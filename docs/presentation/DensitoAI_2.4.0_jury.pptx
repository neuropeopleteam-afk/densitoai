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команда NEUROPEOPLE, задача 4 — контроль качества снимков рентгеновской денситометрии. Сервис называется DensitoAI, версия 2.4.0. Он принимает DICOM-файлы с GE Lunar Prodigy, определяет область — поясничный отдел позвоночника или проксимальный отдел бедра, — оценивает пять критериев технического задания и формирует таблицу результата ровно в формате ТЗ. Хэш конфигурации на слайде — тот же, что записан в каждом DICOM SR и в ответе API: всё, что мы покажем, привязано к одной сборке. Снимков пациентов в презентации нет, только синтетические фантомы из поставки. (30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именно проверяет сервис. Две области — поясничный отдел позвоночника и проксимальный отдел бедра. Пять критериев из разметки заказчика: для позвоночника — укладка, ось и посторонние предметы; для бедра — укладка и область интереса. Формулировки нарушений берём из закрытого перечня ТЗ буква в букву. Под каждым критерием — что мы измеряем физически: смещение от центра, угол оси, площадь плотных включений, угол диафиза, расстояние от кости до края в миллиметрах. На выходе — таблица из девяти колонок в заданном порядке, одна строка на файл; битый файл получает строку Failure и не останавливает партию. (35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— честно. В выборке 499 файлов из 100 исследований, но уникальных кадров по хэшу пикселей только 252: остальные — побайтовые клоны экспорта внутри исследований. Разметка задана на исследование одним экспертом, все снимки — с одного аппарата. Поэтому единица счёта у нас — исследование: снимки одного исследования никогда не попадают одновременно в обучение и валидацию, а доверительные интервалы считаются бутстрапом по исследованиям. Правая колонка таблицы — самое важное число на слайде: по укладке позвоночника положительных исследований шесть, по области интереса бедра — тоже шесть. Всё, что мы скажем дальше про эти два критерия, надо читать с этой поправкой.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устроено решение. Два независимых контура на каждый критерий. Контур A измеряет геометрию: сегментирует кость и считает физически осмысленные величины — угол оси, смещение, ширину, расстояние до края, площадь плотных включений; на них — логистическая регрессия на одном–пяти признаках. Контур B смотрит на снимок целиком: замороженный EfficientNet-B0, PCA до 32 компонент и логрегрессия. Решение по критерию — среднее рангов двух контуров с весами 0,5 и 0,5, зафиксированными заранее. Порог — правило по доле положительных, выбранное внутри вложенной валидации, а не F1-оптимум на тех же данных. В 2.4.0 изменился один критерий — укладка позвоночника: в контур A добавлен признак синтетической головы, обученной на искусственных смещениях кадра без меток разметки.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в формате ТЗ. Все числа — out-of-fold с группировкой по исследованию, интервалы — бутстрап по исследованиям. ROC-AUC стека по пяти критериям — от 0,725 на укладке бедра до 0,917 на области интереса бедра. F1 мы показываем с интервалами и просим читать их правильно: у укладки позвоночника и области интереса бедра по шесть положительных исследований, интервал F1 — от 0,12 до 1 и от 0 до 0,91; это свойство выборки, а не модели. Внизу — первая метрика организаторов, бинарная «есть нарушение» по области: ROC-AUC 0,813 для позвоночника и 0,760 для бедра, F1 0,662 и 0,516. Это числа поставки 2.4.0, они одни и те же во всех документах, на лендинге и в карточке модели.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вопрос жюри: а что даёт архитектура по сравнению с ничем? Мы посчитали на тех же OOF-строках тривиальные бейзлайны — «всегда норма», «всегда нарушение», случайный по доле позитивов, — а также каждый контур в отдельности и логрегрессию на всех геометрических признаках без отбора. Стек отделяется от тривиальных бейзлайнов на всех пяти критериях. При этом мы не утверждаем, что стек везде лучше сильнейшего контура: на укладке позвоночника и посторонних предметах — нет. Его роль — устойчивость: контур A на укладке позвоночника даёт AUC 0,915, но при пороге по доле позитивов помечает десять клонов одного здорового исследования и получает F1 ноль. Стек с тем же правилом — 0,50.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ли читать наши числа как вероятности? Мы это измерили, а не предположили. quality_prob — грубая вероятность: ошибка калибровки ECE 0,14 для позвоночника и 0,15 для бедра. Значение выше 0,5 означает «сервис поставил класс 1»: при 0,5–0,8 нарушение подтверждается у 29 % кадров позвоночника, при 0,8 и выше — у 80 %. Внутри класса это ранг для сортировки очереди, и так мы его и используем. Калибровку в девять колонок не внедряем — прирост Brier в интервале включает ноль, и мы честно об этом пишем. Отдельно — зона «не уверен»: строки в пределах запаса от порога сервис помечает «посмотреть глазами». Квота — пять процентов строк на критерий; на укладке позвоночника в эти шесть процентов строк попадает 71 % всех ошибок критерия.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мы меняем модель. За две недели у нас было много идей, и большинство мы отвергли — считаем это преимуществом, а не слабостью. Любой кандидат проходит вложенную валидацию: пять внешних фолдов, десять–двадцать повторов, три внутренних, группы — исследование плюс хэш пикселей, чтобы клоны не утекали. Поверх — калиброванный гейт приёмки с поправкой на множественные сравнения. Из недавнего принято два изменения: инвариантный бэкбон для оси позвоночника и признак синтетической головы для укладки. Причём для второго мы прямо пишем: при шести положительных исследованиях гейт не имеет мощности, интервал упирается в ноль, решение принято владельцем осознанно. Идеи 12–15 из бэклога консилиума — веса дубликатов, веса контуров по смыслу ТЗ, noisy-or, маршрутизация по стороне бедра — все дали эффект в пределах шума и не приняты.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проверить, что всё сказанное — правда, без нашего участия. Образ проверяет сам себя: команда verify запускается в контейнере с полностью отключённой сетью и прогоняет 18 проверок — схему CSV, полноту строк, идентификаторы из тегов, Failure ровно у битых файлов, словарь организаторов, детерминизм. Прогон-двойник: два запуска дают побитово одинаковый CSV, и то же можно повторить на своих данных с проверкой sha256. Стресс-набор — 24 случая битых и экзотических файлов в одном пакете с фантомами: битые дают строку Failure, корректные кодировки — тот же класс, соседние строки не меняются. Веса моделей сверяются по sha256, версия и хэш конфигурации одни во всех файлах поставки. Каждая проверка в HTML-отчёте сопровождается строкой «что вы теперь знаете» и ссылкой на пункт ТЗ.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Продукт. Слева — кабинет рентгенолога и лаборанта: загружается партия DICOM или zip, снимки сортируются по риску, у каждого — карточка решения с измерениями и рекомендацией; другая область отмечается как неподдерживаемая. Тот же движок доступен через REST API с выгрузкой CSV и XLSX, одним DICOM SR на исследование и серией визуализации, которую можно положить в PACS рядом с исследованием. Снимки можно не загружать руками: контейнер принимает их по DICOM C-STORE с денситометра или из PACS. Справа — сводка по партии для заведующего отделением: доли нарушений по области, типу, аппарату и дате с доверительными интервалами, зона «не уверен», причины Failure — без персональных данных. (35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бонуса по разъяснению организатора: сегментация и коррекция разметки — дополнительный функционал, не обязательный минимум. Сегментация экспортируется как DICOM SEG, PNG-маска и JSON контуров: кость, поле сканирования, посторонние предметы. Маски устойчивы к формату — Dice единица при перевороте и смене фотометрии, — но это те же эвристики, что для измерений, а не обученная модель; эталонной разметки структур у нас нет, и качество относительно эталона мы не заявляем. Второе — предложение коррекции области интереса бедра: сервис измеряет дефицит поля сканирования в миллиметрах и предлагает область, а специалист подтверждает, отклоняет или рисует свою. Решения сохраняются отдельным DICOM SR; ROI аппарата и девять колонок не меняются. (35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— честно. Первое и главное: шесть положительных исследований по укладке позвоночника и области интереса бедра. Признак, добавленный в 2.4.0, проверен только на них, поэтому на закрытом тесте по укладке мы ждём результат слабее наших OOF-цифр. Второе: один аппарат, одна клиника, один разметчик — перенос на другие денситометры не доказан, чужой источник мы только помечаем предупреждением. Третье: OOF — одно разбиение, разброс мы измерили отдельно, и боевое разбиение слегка благоприятное. Четвёртое: чувствительность к шуму и экспозиции — до 27 % переворотов класса; на реальном потоке одного аппарата таких искажений нет, но мы это фиксируем, а не маскируем. План: слепая ревизия рентгенолога — инструмент готов, ждём врача; двойная разметка; проверка на другом аппарате; и закрытый тест организаторов как итоговая оценка. (40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Развёртывание. Один Docker-образ на CPU; сеть нужна только при сборке, в работе — ни одного внешнего вызова. Техническая группа заказчика проверяет поставку пятью командами: сверка контрольных сумм, самопроверка образа без сети — те самые 18 проверок, — пакетная обработка своих DICOM в results.csv, и сервисный режим: кабинет и API на порту 8000, приём DICOM на 11112. Ресурсы скромные: двух ядер и трёх гигабайт достаточно; на боевом сервере в тихих условиях медиана около полсекунды на файл, под чужой нагрузкой около двух секунд, локально на двух ядрах — сотые доли секунды. Что дальше: слепая ревизия и двойная разметка, данные с других аппаратов для проверки переноса, обновление моделей без пересборки образа и пилот в отделении с приёмом по DICOM и сводкой по партии. (35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Итог. DensitoAI выдаёт результат строго в формате ТЗ и не падает на битом входе. Метрики — честные, out-of-fold по исследованиям с доверительными интервалами: ROC-AUC бинарной задачи 0,813 и 0,760, по критериям от 0,725 до 0,917. Всё это проверяется без нас: 18 проверок в образе без сети, детерминизм бит в бит, sha256 весов, стресс-набор. И границы мы называем прямо: один аппарат, один разметчик, шесть положительных исследований у редких критериев. Демо и код открыты по адресу на слайде. Спасибо, готовы к вопросам. (30 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ЛИДЕРЫ ЦИФРОВОЙ ТРАНСФОРМАЦИИ 2026 · ЗАДАЧА 4 · ДЗМ / ЦДиТ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Автоматический контроль качества DXA-снимков денситометра GE Lunar Prodigy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Укладка и ось позвоночника, посторонние предметы, укладка и область интереса бедра — пять критериев технического задания, таблица результата в формате ТЗ.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4937760" cy="18288"/>
          </a:xfrm>
          <a:prstGeom prst="rect">
            <a:avLst/>
          </a:prstGeom>
          <a:solidFill>
            <a:srgbClr val="33373B"/>
          </a:solidFill>
          <a:ln w="12700">
            <a:solidFill>
              <a:srgbClr val="3337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23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NEUROPEOPLE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сервиса 2.4.0   ·   хэш конфигурации 1f12392d7373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822960"/>
            <a:ext cx="2651760" cy="3566160"/>
          </a:xfrm>
          <a:prstGeom prst="rect">
            <a:avLst/>
          </a:prstGeom>
          <a:solidFill>
            <a:srgbClr val="1E2124"/>
          </a:solidFill>
          <a:ln w="12700">
            <a:solidFill>
              <a:srgbClr val="33373B"/>
            </a:solidFill>
            <a:prstDash val="solid"/>
          </a:ln>
        </p:spPr>
      </p:sp>
      <p:pic>
        <p:nvPicPr>
          <p:cNvPr id="11" name="Image 0" descr="/home/user/workspace/densito/work/presentation/assets/ph_spine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05840"/>
            <a:ext cx="1097280" cy="1161288"/>
          </a:xfrm>
          <a:prstGeom prst="rect">
            <a:avLst/>
          </a:prstGeom>
        </p:spPr>
      </p:pic>
      <p:pic>
        <p:nvPicPr>
          <p:cNvPr id="12" name="Image 1" descr="/home/user/workspace/densito/work/presentation/assets/ph_hip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05840"/>
            <a:ext cx="1097280" cy="1143000"/>
          </a:xfrm>
          <a:prstGeom prst="rect">
            <a:avLst/>
          </a:prstGeom>
        </p:spPr>
      </p:pic>
      <p:pic>
        <p:nvPicPr>
          <p:cNvPr id="13" name="Image 2" descr="/home/user/workspace/densito/work/presentation/assets/ph_spine_ti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1097280" cy="1161288"/>
          </a:xfrm>
          <a:prstGeom prst="rect">
            <a:avLst/>
          </a:prstGeom>
        </p:spPr>
      </p:pic>
      <p:pic>
        <p:nvPicPr>
          <p:cNvPr id="14" name="Image 3" descr="/home/user/workspace/densito/work/presentation/assets/ph_hip_cropp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286000"/>
            <a:ext cx="1097280" cy="1143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Синтетические фантомы из tests/phantoms/: норма, наклон оси, обрезанное поле. Снимков пациентов в презентации нет.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проверяется: две области, пять критериев ТЗ, девять колонок на выходе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441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ПОЗВОНОЧНИК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15453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Укладка пациента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00253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«Некорректная укладка»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47802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Измеряем: смещение от центра кадра, ширина костной области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21408" y="123444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3441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ПОЗВОНОЧНИК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31136" y="15453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позвоночника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31136" y="200253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выравнена ось позвоночника»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31136" y="247802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Измеряем: угол оси к вертикали, градусы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85616" y="123444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3441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ПОЗВОНОЧНИК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95344" y="15453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Посторонние предметы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95344" y="200253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«Присутствуют посторонние предметы»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95344" y="247802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Измеряем: площадь плотных включений, контраст к кости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9824" y="123444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3441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БЕДРО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59552" y="15453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Укладка пациента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59552" y="200253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«Некорректная укладка»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59552" y="247802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Измеряем: угол диафиза, признаки ротации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14032" y="123444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3441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БЕДРО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23760" y="15453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интереса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23760" y="200253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«Некорректная область интереса»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23760" y="247802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Измеряем: расстояние от кости до края, длина диафиза ниже вертела, мм</a:t>
            </a:r>
            <a:endParaRPr lang="en-US" sz="850" dirty="0"/>
          </a:p>
        </p:txBody>
      </p:sp>
      <p:pic>
        <p:nvPicPr>
          <p:cNvPr id="31" name="Image 0" descr="/home/user/workspace/densito/work/presentation/assets/ph_spine_ti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868680" cy="914400"/>
          </a:xfrm>
          <a:prstGeom prst="rect">
            <a:avLst/>
          </a:prstGeom>
        </p:spPr>
      </p:pic>
      <p:pic>
        <p:nvPicPr>
          <p:cNvPr id="32" name="Image 1" descr="/home/user/workspace/densito/work/presentation/assets/ph_spine_me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46120"/>
            <a:ext cx="868680" cy="914400"/>
          </a:xfrm>
          <a:prstGeom prst="rect">
            <a:avLst/>
          </a:prstGeom>
        </p:spPr>
      </p:pic>
      <p:pic>
        <p:nvPicPr>
          <p:cNvPr id="33" name="Image 2" descr="/home/user/workspace/densito/work/presentation/assets/ph_hip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246120"/>
            <a:ext cx="877824" cy="9144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5720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Фантомы: наклон оси 11,6°, плотное включение, обрезанное поле (tests/phantoms/MANIFEST.json)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383280" y="3246120"/>
            <a:ext cx="5303520" cy="914400"/>
          </a:xfrm>
          <a:prstGeom prst="rect">
            <a:avLst/>
          </a:prstGeom>
          <a:solidFill>
            <a:srgbClr val="F1F0EB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520440" y="3337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— CSV из 9 колонок в порядке ТЗ, одна строка на каждый файл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3520440" y="3593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path_to_study, study_uid, image_uid, anatomical_region, quality_class, violation_type, quality_prob, processing_status, time_of_processing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352044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нарушений в violation_type — через «;». Сбой файла — строка Failure, пакет не прерывается.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Обучающая выборка: 499 файлов, но единица счёта — исследование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DICOM-файлов в выборке организаторов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77440" y="1188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377440" y="17739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исследований; обе области — в 78, только позвоночник — в 21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188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17739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уникальных кадра по хэшу пикселей; 247 — клоны экспорта внутри исследований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766560" y="17739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 GE Lunar Prodigy · разметчик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Кадров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Полож. кадров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Полож. исследований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Укладка позвоночника (sp_pos)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из 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Ось позвоночника (sp_axis)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из 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Посторонние предметы (sp_art)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из 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Укладка бедра (hip_pos)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из 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Область интереса бедра (hip_roi)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из 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126480" y="2514600"/>
            <a:ext cx="2560320" cy="1691640"/>
          </a:xfrm>
          <a:prstGeom prst="rect">
            <a:avLst/>
          </a:prstGeom>
          <a:solidFill>
            <a:srgbClr val="E1EFF0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2624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28803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Метка задана на исследование, поэтому все интервалы считаем по исследованиям, а не по файлам</a:t>
            </a:r>
            <a:endParaRPr lang="en-US" sz="9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sp_pos и hip_roi половину положительных кадров дают 2 исследования: оценки описывают несколько пациентов, а не устойчивую способность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docs/EVIDENCE.md §1 (паспорт выборки docs/sample_passport.json), models/metrics_summary.json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контура на каждый критерий, ранговый стэкинг и порог, зафиксированный на out-of-fold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691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44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Папка, zip или файл. Нормализация в 8 бит, MONOCHROME1 → инверсия, шаг пикселя из тегов или 1,05 × 0,6 мм.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234440"/>
            <a:ext cx="1691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1344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50008" y="1645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Позвоночник или бедро — по тегам и размеру кадра, для нестандартных — по содержимому. Сторона бедра — по анатомии.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2344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A — геометрия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4528" y="1645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 кости, угол оси, смещение от центра, ширина кости, угол диафиза, расстояние до края, площадь включений → логрегрессия на 1–5 признаках.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2344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B — эмбеддинги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1968" y="1645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EfficientNet-B0, вход 320 × 192, вектор 1280 → StandardScaler → PCA 32 → логрегрессия L2. Сеть не дообучается на метках.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E1EFF0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0779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0,5 · rank(контур A) + 0,5 · rank(контур B)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зафиксированы заранее, не подобраны под выборку. Порог по критерию — правило prevalence (или prevalence × 1,4), выбранное внутри nested-валидации; на OOF он не оптимизируется по F1. quality_prob — смесь any-модели и максимума по критериям, согласованная с классом.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0448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нового в 2.4.0 (только sp_pos): </a:t>
            </a:r>
            <a:r>
              <a:rPr lang="en-US" sz="9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третий признак контура A — логит синтетической головы укладки (src/sppos_head.py), обученной на синтетических смещениях кадра без меток ТЗ поверх того же эмбеддинга densito, который уже считает контур B. Время на снимок не растёт; остальные четыре критерия и бедро побайтно те же, что в 2.3.2.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(ТЗ §8.4)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out-of-fold по исследованиям: ROC-AUC стека 0,725–0,917, F1 — с широкими интервалами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463040"/>
                <a:gridCol w="146304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/ полож.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 [95 % ДИ]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[95 % ДИ]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Чувств.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Специф.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Некорректная укладка (sp_pos)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 / 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 [0.72; 1.00]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 [0.12; 1.00]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выравнена ось позвоночника (sp_axis)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 / 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0.889 [0.75; 0.98]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0.605 [0.29; 0.82]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Присутствуют посторонние предметы (sp_art)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 / 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0.824 [0.69; 0.91]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0.535 [0.24; 0.74]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Некорректная укладка бедра (hip_pos)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 / 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0.725 [0.61; 0.82]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0.432 [0.22; 0.60]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Некорректная область интереса (hip_roi)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 / 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0.917 [0.73; 1.00]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0.514 [0.00; 0.91]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Бинарная задача «есть нарушение» по области (quality_class / quality_prob) — первая метрика организаторов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Область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 [95 % ДИ]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[95 % ДИ]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 [95 % ДИ]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Поясничный отдел позвоночника (n = 166, полож. 60)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0.813 [0.69; 0.91]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0.662 [0.49; 0.80]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0.547 [0.40; 0.70]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Проксимальный отдел бедра (n = 329, полож. 92)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0.760 [0.63; 0.86]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0.516 [0.31; 0.68]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0.473 [0.20; 0.68]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OOF с группировкой по исследованию, 95 % ДИ — бутстрап по исследованиям, 2000 повторов. При n_pos &lt; 15 строки читать по ROC-AUC, а не по F1. Источник: docs/METRICS_REPORT.md, models/metrics_summary.json.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БЕЙЗЛАЙНЫ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архитектура: стек отделяется от тривиальных бейзлайнов на всех пяти критериях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960120"/>
                <a:gridCol w="822960"/>
                <a:gridCol w="822960"/>
                <a:gridCol w="1051560"/>
                <a:gridCol w="1234440"/>
                <a:gridCol w="5943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/ полож.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«всегда нарушение»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 контур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 контур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 все признаки без отбора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 стек [95 % ДИ]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стек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sp_pos · укладка позвоночника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 / 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 [0.70; 1.00]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sp_axis · ось позвоночника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 / 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0.889 [0.75; 0.98]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sp_art · посторонние предметы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 / 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0.823 [0.70; 0.92]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hip_pos · укладка бедра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 / 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0.725 [0.62; 0.82]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hip_roi · область интереса бедра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 / 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0.917 [0.71; 1.00]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27355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контур хрупок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" y="3511296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sp_pos: контур A имеет AUC 0.915, но при пороге правила помечает 10 клонов одного отрицательного исследования — F1 = 0. Стек с тем же правилом — F1 0.50.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32004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55848" y="327355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 признаков оправдан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55848" y="3511296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Логрегрессия на всех геометрических признаках без отбора проигрывает по AUC на четырёх критериях из пяти (0.37–0.51 против 0.71–0.92).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35040" y="32004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327355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таблица не доказывает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4768" y="3511296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Превосходства стека над сильнейшим контуром на каждом критерии (sp_pos, sp_art — нет) и переноса на другие аппараты и разметчиков.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OOF-строки models/oof_stacked_*.csv; ДИ ROC-AUC — бутстрап по исследованиям, 500 ресэмплов. Источник: docs/BASELINES.md, docs/baselines.json.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quality_prob — грубая вероятность и ранг внутри класса; спорные строки уходят в зону «не уверен»</a:t>
            </a:r>
            <a:endParaRPr lang="en-US" sz="2000" dirty="0"/>
          </a:p>
        </p:txBody>
      </p:sp>
      <p:pic>
        <p:nvPicPr>
          <p:cNvPr id="6" name="Image 0" descr="/home/user/workspace/densito/work/presentation/assets/rel_spine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30815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надёжности quality_prob, позвоночник (OOF). docs/calibration/reliability_spine.svg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11880" y="1188720"/>
            <a:ext cx="5074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280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quality_prob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0" y="15361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ECE10 0.139 (позвоночник) и 0.153 (бедро); Brier 0.199 / 0.198 против 0.231 / 0.201 у константы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Позвоночник: при 0.5–0.8 нарушение подтверждается у 29 % кадров, при ≥ 0.8 — у 80 %; бедро: 0.5–0.9 → 36 %, ≥ 0.9 → 96 %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класса это ранг для сортировки очереди, а не процент. Калибровка в 9 колонок не внедряется — сказано явно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11880" y="2651760"/>
            <a:ext cx="5074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7249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«не уверен»: квота 5 % строк на критерий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2980944"/>
          <a:ext cx="4800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242316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зоне на OOF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Ошибок критерия в зоне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B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sp_pos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10/166 (6.0 %)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из 14 (71 %)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hip_roi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16/329 (4.9 %)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из 17 (41 %)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sp_axis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6/166 (3.6 %)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4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из 17 — ошибки далеко от порога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374904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 «посмотреть глазами»: позвоночник 14.5 % (24/166), бедро 9.4 % (31/329). В кабинете — жёлтое замечание, в API — needs_review; 9 колонок CSV не меняются.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611880" y="4297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docs/CALIBRATION.md, docs/METRICS_REPORT.md (раздел «Зона „не уверен“»), config.yaml → uncertainty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меняем модель: вложенная валидация, калиброванный гейт, большинство идей отвергнуто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repeated GroupKFold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внешних фолдов × 10–20 повторов × 3 внутренних; группы = исследование + хэш пикселей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порога, предобработка (К11), источник эмбеддингов (К13) и признак H2 выбирались только внутри nested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Разброс OOF по 10 разбиениям измерен отдельно: AUC ± 0.017–0.032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Калиброванный гейт приёмки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tools/paired_gate.py: нижняя граница кластерного ДИ ΔAUC &gt; 0, поправка Холма на семейство из 5 гипотез, ΔAUC ≥ 0.02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Принято: densito_inv для sp_axis (nested ΔAUC +0.111, 19/20), H2 для sp_pos (+0.119, 20/20)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H2 при 6 положительных исследованиях гейт мощности не имеет — ДИ90 [−0.004; +0.218] упирается в 0; это записано явно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2926080"/>
          </a:xfrm>
          <a:prstGeom prst="rect">
            <a:avLst/>
          </a:prstGeom>
          <a:solidFill>
            <a:srgbClr val="F1F0EB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Отвергнутые идеи 12–15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dupweight (вес 1/кратность клона): ΔAUC +0.001…+0.012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tz_weights (веса контуров по смыслу ТЗ): +0.013…+0.022, ДИ включают 0, бедро хуже на уровне региона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noisy_or: тождествен базе; 15 hip_side_router: +0.013 / −0.005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один не прошёл ни старое, ни новое правило; config.yaml и модели не менялись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docs/NESTED_GATE_REPORT.md (части 3–5), docs/EMB_GATE_REPORT.md, docs/PREPROC_GATE_REPORT.md, docs/METRICS_REPORT.md («Разброс по разбиениям»)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 проверяет сам себя: 18 из 18 проверок в контейнере без сети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проверок verify внутри образа с --network none: схема CSV, полнота, UID из тегов, Failure ровно у битых файлов, словарь организаторов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63240" y="123444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бит в бит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7647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прогон-двойник: два прогона на одном входе дают одинаковый CSV (кроме time_of_processing); на своих данных — verify --data и --expected-sha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33192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стресс-набор: битые и нестандартные файлы (обрезанный, нулевой, не-DICOM, RGB, 8×8, 4000×3000, RLE, JPEG, zip с битым файлом) одним пакетом; 39 файлов за 8,1 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27889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192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весов .pkl, бэкбонов, config.yaml — по models/WEIGHTS_SHA256.txt; версия и config_hash одни во всех файлах поставки</a:t>
            </a:r>
            <a:endParaRPr lang="en-US" sz="850" dirty="0"/>
          </a:p>
        </p:txBody>
      </p:sp>
      <p:pic>
        <p:nvPicPr>
          <p:cNvPr id="18" name="Image 0" descr="/home/user/workspace/densito/work/presentation/assets/docs_verif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34440"/>
            <a:ext cx="2971800" cy="195681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715000" y="1234440"/>
            <a:ext cx="2971800" cy="1956816"/>
          </a:xfrm>
          <a:prstGeom prst="rect">
            <a:avLst/>
          </a:prstGeom>
          <a:ln w="12700">
            <a:solidFill>
              <a:srgbClr val="D9D6C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15000" y="3291840"/>
            <a:ext cx="2971800" cy="914400"/>
          </a:xfrm>
          <a:prstGeom prst="rect">
            <a:avLst/>
          </a:prstGeom>
          <a:solidFill>
            <a:srgbClr val="F1F0EB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3383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проверяет verify: инвариантность к именам файлов, zip и вложенности; истинную геометрию фантомов по MANIFEST.json; DICOM SC-серию; изоляцию запросов API.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docs/VERIFICATION.md, tools/verify_checks.py, tools/evidence_map.json, docs/STRESS_SET.md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Кабинет, API, DICOM: от загрузки партии до сводки для заведующего отделением</a:t>
            </a:r>
            <a:endParaRPr lang="en-US" sz="2000" dirty="0"/>
          </a:p>
        </p:txBody>
      </p:sp>
      <p:pic>
        <p:nvPicPr>
          <p:cNvPr id="6" name="Image 0" descr="/home/user/workspace/densito/work/presentation/assets/app_demo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114800" cy="2706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4114800" cy="2706624"/>
          </a:xfrm>
          <a:prstGeom prst="rect">
            <a:avLst/>
          </a:prstGeom>
          <a:ln w="12700">
            <a:solidFill>
              <a:srgbClr val="D9D6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86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Кабинет: демо-партия из 10 файлов, сортировка по риску, карточка решения на каждый снимок</a:t>
            </a:r>
            <a:endParaRPr lang="en-US" sz="900" dirty="0"/>
          </a:p>
        </p:txBody>
      </p:sp>
      <p:pic>
        <p:nvPicPr>
          <p:cNvPr id="9" name="Image 1" descr="/home/user/workspace/densito/work/presentation/assets/dept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34440"/>
            <a:ext cx="3840480" cy="22128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1234440"/>
            <a:ext cx="3840480" cy="2212848"/>
          </a:xfrm>
          <a:prstGeom prst="rect">
            <a:avLst/>
          </a:prstGeom>
          <a:ln w="12700">
            <a:solidFill>
              <a:srgbClr val="D9D6C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 по партии: доли нарушений с ДИ Уилсона 95 %, зона «не уверен», Failure; без персональных данных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846320" y="38130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2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Кабинет: роли «Врач» и «Лаборант», сортировка по риску, история запросов по коду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2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и Swagger; CSV и XLSX; один DICOM SR на исследование, серия DICOM SC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2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Приёмник C-STORE: AE Title DENSITOAI, порт 11112 — приём с денситометра или из PACS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ДОПОЛНИТЕЛЬНЫЙ ФУНКЦИОНАЛ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сегментации и предложение коррекции области интереса — решение остаётся за специалистом</a:t>
            </a:r>
            <a:endParaRPr lang="en-US" sz="2000" dirty="0"/>
          </a:p>
        </p:txBody>
      </p:sp>
      <p:pic>
        <p:nvPicPr>
          <p:cNvPr id="6" name="Image 0" descr="/home/user/workspace/densito/work/presentation/assets/card_seg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730752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3730752" cy="1828800"/>
          </a:xfrm>
          <a:prstGeom prst="rect">
            <a:avLst/>
          </a:prstGeom>
          <a:ln w="12700">
            <a:solidFill>
              <a:srgbClr val="D9D6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081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Кабинет: слой «Сегментация» и измерения против нормы</a:t>
            </a:r>
            <a:endParaRPr lang="en-US" sz="900" dirty="0"/>
          </a:p>
        </p:txBody>
      </p:sp>
      <p:pic>
        <p:nvPicPr>
          <p:cNvPr id="9" name="Image 1" descr="/home/user/workspace/densito/work/presentation/assets/card_decision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34440"/>
            <a:ext cx="2788920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03520" y="1234440"/>
            <a:ext cx="2788920" cy="1828800"/>
          </a:xfrm>
          <a:prstGeom prst="rect">
            <a:avLst/>
          </a:prstGeom>
          <a:ln w="12700">
            <a:solidFill>
              <a:srgbClr val="D9D6C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09160" y="3081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Предложенная область (пунктир) и кнопки решения специалиста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3392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 структур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" y="361188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SEG + PNG-маска + JSON контуров: кость, поле сканирования, посторонние предметы (металл)</a:t>
            </a:r>
            <a:endParaRPr lang="en-US" sz="80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 масок: переворот и смена PhotometricInterpretation — Dice 1.000; яркость ±10 % — кость 0.999 / 0.996</a:t>
            </a:r>
            <a:endParaRPr lang="en-US" sz="80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эвристики, что для измерений; эталонной разметки структур нет — качество к эталону не заявляется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709160" y="333756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18888" y="3392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коррекции области интереса бедра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18888" y="361188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src/auto_roi.py измеряет дефицит поля сканирования в мм и предлагает область; roi_suggestion в каждой строке ответа</a:t>
            </a:r>
            <a:endParaRPr lang="en-US" sz="80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Специалист: «Подтвердить», «Отклонить», «Своя» — решения в decisions.csv и отдельном DICOM SR решений</a:t>
            </a:r>
            <a:endParaRPr lang="en-US" sz="80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аппарата не меняется, 9 официальных колонок не меняются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docs/DZM_CONFORMANCE.md §2, src/segmentation_export.py, src/auto_roi.py, tests/test_segmentation_export.py и test_roi_decisions.py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знаем о границах решения и как собираемся их проверять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положительных исследований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укладке позвоночника и области интереса бедра. F1 0.50 [0.12; 1.00] и 0.51 [0.00; 0.91]; признак H2 проверен только на этих 6 исследованиях — на закрытом тесте ждём результат слабее OOF.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32588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аппарат, одна клиника, один разметчик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173736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499 снимков — один GE Lunar Prodigy. Перенос на другие денситометры не доказан; чужой источник только помечается предупреждением. Межэкспертного согласия нет.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072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разбиение OOF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21868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Разброс по 10 разбиениям: AUC ± 0.017–0.032, боевое разбиение слегка благоприятное; F1 у критериев с 16–17 положительными — до ± 0.155.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71576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8072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Чувствительность к пикселям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321868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 σ 3 % — 27.2 % переворотов класса, гамма 0.7 / 1.4 — 18.5 % / 17.3 %; формат и теги — 0 %. Зона «не уверен» эти перевороты не ловит — фиксируем, не маскируем.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51760" cy="2852928"/>
          </a:xfrm>
          <a:prstGeom prst="rect">
            <a:avLst/>
          </a:prstGeom>
          <a:solidFill>
            <a:srgbClr val="E1EFF0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валидации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664208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Слепая ревизия рентгенолога: инструмент готов (tools/review/), 40–60 кадров «ответ до показа», kappa с ДИ, ориентиры PCK@10 мм; ждём врача</a:t>
            </a:r>
            <a:endParaRPr lang="en-US" sz="9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сторону 5 кадров hip_roi (F1 0.514 против 0.267)</a:t>
            </a:r>
            <a:endParaRPr lang="en-US" sz="9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Двойная разметка — межэкспертное согласие</a:t>
            </a:r>
            <a:endParaRPr lang="en-US" sz="9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другом денситометре до заявлений о переносе</a:t>
            </a:r>
            <a:endParaRPr lang="en-US" sz="9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Закрытый тест организаторов — итоговая оценка; OOF — ориентир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docs/EVIDENCE.md §5, docs/METRICS_REPORT.md («Разброс по разбиениям», «Чувствительность к переносу метки по стороне»), docs/ROBUSTNESS_REPORT.md, PLAN.md К6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9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1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Docker-образ на CPU, без сети в работе, с самопроверкой из пяти команд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120640" cy="3017520"/>
          </a:xfrm>
          <a:prstGeom prst="rect">
            <a:avLst/>
          </a:prstGeom>
          <a:solidFill>
            <a:srgbClr val="15171A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C0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контрольные суммы и загрузка образа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-c SHA256SUMS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load -i dist/densitoai-2.4.0-image.tar.gz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C0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самопроверка без сети: фантомы, два прогона, sha256 весов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--network none --cpus=2 --memory=3g \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"$PWD/outputs:/data/output" densitoai:2.4.0 verify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C0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VERIFY: OK (18/18 checks passed)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C0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пакетная обработка своих DICOM → results.csv (+ .xlsx)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--network none -v /path/to/dicoms:/data/input:ro \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"$PWD/outputs:/data/output" densitoai:2.4.0 batch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C0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сервис: кабинет и API на 8000, приём DICOM на 11112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densito-api densito-receiver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06440" y="1234440"/>
            <a:ext cx="2880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внутри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554480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2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3.12, PyTorch CPU, scikit-learn, pydicom; версии зафиксированы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2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Кабинет, API, модели и бэкбон — в образе; внешних вызовов нет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2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CPU и 3 ГБ достаточно; сервер в тихих условиях — медиана 0,54 с на файл (499 файлов за 368 с одним процессом), под чужой нагрузкой 1,84 с; с визуализациями и SR ≈ 2 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06440" y="2971800"/>
            <a:ext cx="2880360" cy="1371600"/>
          </a:xfrm>
          <a:prstGeom prst="rect">
            <a:avLst/>
          </a:prstGeom>
          <a:solidFill>
            <a:srgbClr val="E1EFF0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044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273552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Слепая ревизия, двойная разметка → карточка модели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 других аппаратов → проверка переноса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моделей без пересборки образа</a:t>
            </a:r>
            <a:endParaRPr lang="en-US" sz="850" dirty="0"/>
          </a:p>
          <a:p>
            <a:pPr marL="152400" indent="-152400">
              <a:lnSpc>
                <a:spcPct val="110000"/>
              </a:lnSpc>
              <a:spcAft>
                <a:spcPts val="100"/>
              </a:spcAft>
              <a:buSzPct val="100000"/>
              <a:buChar char="–"/>
            </a:pPr>
            <a:r>
              <a:rPr lang="en-US" sz="850" dirty="0">
                <a:solidFill>
                  <a:srgbClr val="212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в отделении: приём по DICOM, сводка по партии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docs/VERIFICATION.md («Пять команд»), README.md §3–§4, §13, docs/METRICS_REPORT.md («Скорость и надёжность»)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· NEUROPEOPLE · версия 2.4.0 · хэш конфигурации 1f12392d7373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DensitoAI 2.4.0 — контроль качества DXA-снимков, который можно проверить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794760" cy="804672"/>
          </a:xfrm>
          <a:prstGeom prst="rect">
            <a:avLst/>
          </a:prstGeom>
          <a:solidFill>
            <a:srgbClr val="1E2124"/>
          </a:solidFill>
          <a:ln w="12700">
            <a:solidFill>
              <a:srgbClr val="333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21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ТЗ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478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колонок, закрытый словарь, строка на каждый файл, Failure не роняет пакет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2148840"/>
            <a:ext cx="3794760" cy="804672"/>
          </a:xfrm>
          <a:prstGeom prst="rect">
            <a:avLst/>
          </a:prstGeom>
          <a:solidFill>
            <a:srgbClr val="1E2124"/>
          </a:solidFill>
          <a:ln w="12700">
            <a:solidFill>
              <a:srgbClr val="3337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21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Честные метрики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2478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OOF по исследованиям с ДИ: ROC-AUC «есть нарушение» 0.813 / 0.760, по критериям 0.725–0.917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794760" cy="804672"/>
          </a:xfrm>
          <a:prstGeom prst="rect">
            <a:avLst/>
          </a:prstGeom>
          <a:solidFill>
            <a:srgbClr val="1E2124"/>
          </a:solidFill>
          <a:ln w="12700">
            <a:solidFill>
              <a:srgbClr val="3337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Проверяемость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392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18/18 проверок в образе без сети, бит в бит, sha256 весов, стресс-набор 24/24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3063240"/>
            <a:ext cx="3794760" cy="804672"/>
          </a:xfrm>
          <a:prstGeom prst="rect">
            <a:avLst/>
          </a:prstGeom>
          <a:solidFill>
            <a:srgbClr val="1E2124"/>
          </a:solidFill>
          <a:ln w="12700">
            <a:solidFill>
              <a:srgbClr val="3337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3392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аппарат, один разметчик, 6 положительных исследований у редких критериев — сказано прямо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005072"/>
            <a:ext cx="7863840" cy="18288"/>
          </a:xfrm>
          <a:prstGeom prst="rect">
            <a:avLst/>
          </a:prstGeom>
          <a:solidFill>
            <a:srgbClr val="33373B"/>
          </a:solidFill>
          <a:ln w="12700">
            <a:solidFill>
              <a:srgbClr val="3337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96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 neuropeople.pro   ·   код: git clone https://neuropeople.pro/git/densitoai.git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NEUROPEOPLE   ·   контакты: </a:t>
            </a:r>
            <a:r>
              <a:rPr lang="en-US" sz="1100" dirty="0">
                <a:solidFill>
                  <a:srgbClr val="7C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[место для ФИО и телефона]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DensitoAI 2.4.0 — презентация для жюри</dc:title>
  <dc:subject>PptxGenJS Presentation</dc:subject>
  <dc:creator>NEUROPEOPLE</dc:creator>
  <cp:lastModifiedBy>NEUROPEOPLE</cp:lastModifiedBy>
  <cp:revision>1</cp:revision>
  <dcterms:created xsi:type="dcterms:W3CDTF">2026-09-23T15:44:49Z</dcterms:created>
  <dcterms:modified xsi:type="dcterms:W3CDTF">2026-09-23T15:44:49Z</dcterms:modified>
</cp:coreProperties>
</file>