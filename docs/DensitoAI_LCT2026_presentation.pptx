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b="1">
                <a:solidFill>
                  <a:srgbClr val="FFFFFF"/>
                </a:solidFill>
                <a:latin typeface="Montserrat"/>
              </a:rPr>
              <a:t>DensitoAI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  <a:latin typeface="Montserrat"/>
              </a:rPr>
              <a:t>Сервис ИИ для оценки качества DXA-снимков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320040"/>
            <a:ext cx="6309360" cy="14173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6035040" cy="12801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0053"/>
                </a:solidFill>
                <a:latin typeface="Montserrat"/>
              </a:rPr>
              <a:t>ЛИДЕРЫ ЦИФРОВОЙ ТРАНСФОРМАЦИИ 2026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C1D22"/>
                </a:solidFill>
                <a:latin typeface="Montserrat"/>
              </a:rPr>
              <a:t>Задача 4. Сервис искусственного интеллекта по оценке качества исследований плотности костей человека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6B75"/>
                </a:solidFill>
                <a:latin typeface="Montserrat"/>
              </a:rPr>
              <a:t>Постановщик задачи: Департамент здравоохранения города Москвы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5943600"/>
            <a:ext cx="8686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D6E4"/>
                </a:solidFill>
                <a:latin typeface="Montserrat"/>
              </a:rPr>
              <a:t>Команда DensitoAI  ·  demo: neuropeople.pro  ·  репозиторий: neuropeople.pro/git/densitoai.git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84280" y="63550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75"/>
                </a:solidFill>
                <a:latin typeface="Montserrat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320040"/>
            <a:ext cx="6539788" cy="621792"/>
          </a:xfrm>
          <a:prstGeom prst="roundRect">
            <a:avLst>
              <a:gd name="adj" fmla="val 22058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320040"/>
            <a:ext cx="6539788" cy="621792"/>
          </a:xfrm>
          <a:prstGeom prst="rect">
            <a:avLst/>
          </a:prstGeom>
          <a:noFill/>
        </p:spPr>
        <p:txBody>
          <a:bodyPr wrap="square" lIns="137160" rIns="137160" tIns="137160" bIns="13716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ontserrat"/>
              </a:rPr>
              <a:t>Задача: контроль качества денситометрии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760720" cy="3474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520978"/>
                </a:solidFill>
                <a:latin typeface="Montserrat"/>
              </a:rPr>
              <a:t>Что происходит сейчас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50" b="0">
                <a:solidFill>
                  <a:srgbClr val="1C1D22"/>
                </a:solidFill>
                <a:latin typeface="Montserrat"/>
              </a:rPr>
              <a:t>DXA-денситометрия — основной метод диагностики остеопороза; результат напрямую зависит от укладки пациента и корректной области интереса.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50" b="0">
                <a:solidFill>
                  <a:srgbClr val="1C1D22"/>
                </a:solidFill>
                <a:latin typeface="Montserrat"/>
              </a:rPr>
              <a:t>Ошибки укладки, невыравненная ось, посторонние предметы и неверный ROI искажают T-score → повторные исследования и ложные диагнозы.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50" b="0">
                <a:solidFill>
                  <a:srgbClr val="1C1D22"/>
                </a:solidFill>
                <a:latin typeface="Montserrat"/>
              </a:rPr>
              <a:t>Контроль качества сегодня выполняется вручную врачом — дорого, медленно, субъективно.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520978"/>
                </a:solidFill>
                <a:latin typeface="Montserrat"/>
              </a:rPr>
              <a:t>Что требуется от сервиса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50" b="0">
                <a:solidFill>
                  <a:srgbClr val="1C1D22"/>
                </a:solidFill>
                <a:latin typeface="Montserrat"/>
              </a:rPr>
              <a:t>Вход — DICOM-файлы исследования; выход — CSV/XLSX строго по формату ТЗ: область, класс качества, тип(ы) нарушения, вероятность, статус, время.</a:t>
            </a:r>
          </a:p>
          <a:p>
            <a:pPr algn="l">
              <a:lnSpc>
                <a:spcPct val="110000"/>
              </a:lnSpc>
            </a:pPr>
            <a:r>
              <a:rPr sz="11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50" b="0">
                <a:solidFill>
                  <a:srgbClr val="1C1D22"/>
                </a:solidFill>
                <a:latin typeface="Montserrat"/>
              </a:rPr>
              <a:t>Полностью локально, без интернета и GPU, воспроизводимо из Docker-образа.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234440"/>
            <a:ext cx="2514600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720840" y="1307592"/>
            <a:ext cx="2240280" cy="68031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0053"/>
                </a:solidFill>
                <a:latin typeface="Montserrat"/>
              </a:rPr>
              <a:t>499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971446"/>
            <a:ext cx="2240280" cy="651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снимков DXA в 100 исследованиях обучающего набора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234440"/>
            <a:ext cx="2514600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464040" y="1307592"/>
            <a:ext cx="2240280" cy="68031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0053"/>
                </a:solidFill>
                <a:latin typeface="Montserrat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971446"/>
            <a:ext cx="2240280" cy="651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типов нарушений: 3 для позвоночника, 2 для бедра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788920"/>
            <a:ext cx="2514600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20840" y="2862072"/>
            <a:ext cx="2240280" cy="68031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0053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525926"/>
            <a:ext cx="2240280" cy="651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области: поясничный отдел позвоночника и проксимальный отдел бедра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788920"/>
            <a:ext cx="2514600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464040" y="2862072"/>
            <a:ext cx="2240280" cy="68031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0053"/>
                </a:solidFill>
                <a:latin typeface="Montserrat"/>
              </a:rPr>
              <a:t>3 мин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525926"/>
            <a:ext cx="2240280" cy="651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лимит времени на исследование по ТЗ — у нас доли секунды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389120"/>
            <a:ext cx="5257800" cy="178308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66560" y="4480560"/>
            <a:ext cx="493776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520978"/>
                </a:solidFill>
                <a:latin typeface="Montserrat"/>
              </a:rPr>
              <a:t>Почему мы выбрали эту задачу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Реальная клиническая боль с измеримым эффектом, малый и «шумный» датасет, который требует инженерной честности, и чёткий формат результата, позволяющий сразу встроить сервис в поток работы отделения лучевой диагностики.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754880"/>
            <a:ext cx="576072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0053"/>
                </a:solidFill>
                <a:latin typeface="Montserrat"/>
              </a:rPr>
              <a:t>Главный вызов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D22"/>
                </a:solidFill>
                <a:latin typeface="Montserrat"/>
              </a:rPr>
              <a:t>На 499 снимков — всего 10 случаев «некорректной укладки» позвоночника и 16 «некорректного ROI» бедра. Любая «тяжёлая» нейросеть переобучается; нужны признаки, которые понимает врач, и строгая валидация по исследованиям.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84280" y="63550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320040"/>
            <a:ext cx="3502152" cy="621792"/>
          </a:xfrm>
          <a:prstGeom prst="roundRect">
            <a:avLst>
              <a:gd name="adj" fmla="val 22058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320040"/>
            <a:ext cx="3502152" cy="621792"/>
          </a:xfrm>
          <a:prstGeom prst="rect">
            <a:avLst/>
          </a:prstGeom>
          <a:noFill/>
        </p:spPr>
        <p:txBody>
          <a:bodyPr wrap="square" lIns="137160" rIns="137160" tIns="137160" bIns="13716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ontserrat"/>
              </a:rPr>
              <a:t>Команда DensitoAI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2157984" cy="420624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94360" y="1463040"/>
            <a:ext cx="822960" cy="822960"/>
          </a:xfrm>
          <a:prstGeom prst="ellipse">
            <a:avLst/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1792224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ФИО участника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950" b="0">
                <a:solidFill>
                  <a:srgbClr val="6B6B75"/>
                </a:solidFill>
                <a:latin typeface="Montserrat"/>
              </a:rPr>
              <a:t>@telegram · e-mail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Лидер команды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Постановка задачи, архитектура решения, коммуникация с организаторами, питч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0903" y="1234440"/>
            <a:ext cx="2157984" cy="420624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2889503" y="1463040"/>
            <a:ext cx="822960" cy="822960"/>
          </a:xfrm>
          <a:prstGeom prst="ellipse">
            <a:avLst/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89503" y="146304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2423160"/>
            <a:ext cx="1792224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ФИО участника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950" b="0">
                <a:solidFill>
                  <a:srgbClr val="6B6B75"/>
                </a:solidFill>
                <a:latin typeface="Montserrat"/>
              </a:rPr>
              <a:t>@telegram · e-mail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ML-инженер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Геометрические признаки, модели по критериям, стэкинг, калибровка порогов, OOF-валидация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6048" y="1234440"/>
            <a:ext cx="2157984" cy="420624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184648" y="1463040"/>
            <a:ext cx="822960" cy="822960"/>
          </a:xfrm>
          <a:prstGeom prst="ellipse">
            <a:avLst/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184648" y="146304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423160"/>
            <a:ext cx="1792224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ФИО участника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950" b="0">
                <a:solidFill>
                  <a:srgbClr val="6B6B75"/>
                </a:solidFill>
                <a:latin typeface="Montserrat"/>
              </a:rPr>
              <a:t>@telegram · e-mail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CV-инженер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Предобработка DICOM, сегментация кости, EfficientNet-эмбеддинги, визуализация признаков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1234440"/>
            <a:ext cx="2157984" cy="420624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479792" y="1463040"/>
            <a:ext cx="822960" cy="822960"/>
          </a:xfrm>
          <a:prstGeom prst="ellipse">
            <a:avLst/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79792" y="146304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1" y="2423160"/>
            <a:ext cx="1792224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ФИО участника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950" b="0">
                <a:solidFill>
                  <a:srgbClr val="6B6B75"/>
                </a:solidFill>
                <a:latin typeface="Montserrat"/>
              </a:rPr>
              <a:t>@telegram · e-mail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Backend-разработчик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CLI и REST API (FastAPI), Docker, формат выгрузки, тесты, деплой демо-стенда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46336" y="1234440"/>
            <a:ext cx="2157984" cy="420624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774936" y="1463040"/>
            <a:ext cx="822960" cy="822960"/>
          </a:xfrm>
          <a:prstGeom prst="ellipse">
            <a:avLst/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774936" y="146304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5" y="2423160"/>
            <a:ext cx="1792224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ФИО участника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950" b="0">
                <a:solidFill>
                  <a:srgbClr val="6B6B75"/>
                </a:solidFill>
                <a:latin typeface="Montserrat"/>
              </a:rPr>
              <a:t>@telegram · e-mail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Медицинский эксперт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Клиническая интерпретация критериев, разбор ошибок, приоритизация нарушений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623560"/>
            <a:ext cx="11430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FFFFFF"/>
                </a:solidFill>
                <a:latin typeface="Montserrat"/>
              </a:rPr>
              <a:t>Формат работы: ежедневные синки, единый репозиторий с CI-тестом формата выгрузки, каждое изменение модели — только через OOF-метрики с доверительными интервалами.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84280" y="63550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75"/>
                </a:solidFill>
                <a:latin typeface="Montserrat"/>
              </a:rPr>
              <a:t>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320040"/>
            <a:ext cx="3502152" cy="621792"/>
          </a:xfrm>
          <a:prstGeom prst="roundRect">
            <a:avLst>
              <a:gd name="adj" fmla="val 22058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320040"/>
            <a:ext cx="3502152" cy="621792"/>
          </a:xfrm>
          <a:prstGeom prst="rect">
            <a:avLst/>
          </a:prstGeom>
          <a:noFill/>
        </p:spPr>
        <p:txBody>
          <a:bodyPr wrap="square" lIns="137160" rIns="137160" tIns="137160" bIns="13716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ontserrat"/>
              </a:rPr>
              <a:t>Коротко о решении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5669280" cy="498348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30352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520978"/>
                </a:solidFill>
                <a:latin typeface="Montserrat"/>
              </a:rPr>
              <a:t>Техническая суть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50" b="1">
                <a:solidFill>
                  <a:srgbClr val="1C1D22"/>
                </a:solidFill>
                <a:latin typeface="Montserrat"/>
              </a:rPr>
              <a:t>Двухконтурная система: </a:t>
            </a:r>
            <a:r>
              <a:rPr sz="1150" b="0">
                <a:solidFill>
                  <a:srgbClr val="1C1D22"/>
                </a:solidFill>
                <a:latin typeface="Montserrat"/>
              </a:rPr>
              <a:t>контур A — интерпретируемая геометрия кости (ось, симметрия, границы ROI, плотностные аномалии); контур B — эмбеддинги EfficientNet-B0. Оба контура объединяет ранговый стэкинг.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50" b="1">
                <a:solidFill>
                  <a:srgbClr val="1C1D22"/>
                </a:solidFill>
                <a:latin typeface="Montserrat"/>
              </a:rPr>
              <a:t>Отдельная модель на каждый тип нарушения </a:t>
            </a:r>
            <a:r>
              <a:rPr sz="1150" b="0">
                <a:solidFill>
                  <a:srgbClr val="1C1D22"/>
                </a:solidFill>
                <a:latin typeface="Montserrat"/>
              </a:rPr>
              <a:t>(5 критериев) + модель «есть нарушение вообще» для калиброванной вероятности quality_prob.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50" b="1">
                <a:solidFill>
                  <a:srgbClr val="1C1D22"/>
                </a:solidFill>
                <a:latin typeface="Montserrat"/>
              </a:rPr>
              <a:t>Область определяется по содержимому </a:t>
            </a:r>
            <a:r>
              <a:rPr sz="1150" b="0">
                <a:solidFill>
                  <a:srgbClr val="1C1D22"/>
                </a:solidFill>
                <a:latin typeface="Montserrat"/>
              </a:rPr>
              <a:t>(DICOM-теги → размер кадра → контентная модель), имя файла не используется.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50" b="1">
                <a:solidFill>
                  <a:srgbClr val="1C1D22"/>
                </a:solidFill>
                <a:latin typeface="Montserrat"/>
              </a:rPr>
              <a:t>Выход строго по ТЗ: </a:t>
            </a:r>
            <a:r>
              <a:rPr sz="1150" b="0">
                <a:solidFill>
                  <a:srgbClr val="1C1D22"/>
                </a:solidFill>
                <a:latin typeface="Montserrat"/>
              </a:rPr>
              <a:t>CSV/XLSX с 9 полями, несколько нарушений через «;», quality_prob согласован с quality_class.</a:t>
            </a:r>
          </a:p>
          <a:p>
            <a:pPr algn="l">
              <a:lnSpc>
                <a:spcPct val="110000"/>
              </a:lnSpc>
            </a:pPr>
            <a:r>
              <a:rPr sz="11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50" b="1">
                <a:solidFill>
                  <a:srgbClr val="1C1D22"/>
                </a:solidFill>
                <a:latin typeface="Montserrat"/>
              </a:rPr>
              <a:t>Только CPU, без сети, </a:t>
            </a:r>
            <a:r>
              <a:rPr sz="1150" b="0">
                <a:solidFill>
                  <a:srgbClr val="1C1D22"/>
                </a:solidFill>
                <a:latin typeface="Montserrat"/>
              </a:rPr>
              <a:t>один Docker-образ: CLI-батч, REST API и веб-интерфейс.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88720"/>
            <a:ext cx="5577840" cy="233172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46520" y="1298448"/>
            <a:ext cx="5257800" cy="2148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520978"/>
                </a:solidFill>
                <a:latin typeface="Montserrat"/>
              </a:rPr>
              <a:t>Уникальность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50" b="0">
                <a:solidFill>
                  <a:srgbClr val="1C1D22"/>
                </a:solidFill>
                <a:latin typeface="Montserrat"/>
              </a:rPr>
              <a:t>Каждое решение объяснимо: врач видит ось, контур кости, границы ROI и найденные предметы на снимке, а не «чёрный ящик».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50" b="0">
                <a:solidFill>
                  <a:srgbClr val="1C1D22"/>
                </a:solidFill>
                <a:latin typeface="Montserrat"/>
              </a:rPr>
              <a:t>Сервис не только находит ошибку ROI бедра, но и предлагает исправленную область интереса.</a:t>
            </a:r>
          </a:p>
          <a:p>
            <a:pPr algn="l">
              <a:lnSpc>
                <a:spcPct val="110000"/>
              </a:lnSpc>
            </a:pPr>
            <a:r>
              <a:rPr sz="11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50" b="0">
                <a:solidFill>
                  <a:srgbClr val="1C1D22"/>
                </a:solidFill>
                <a:latin typeface="Montserrat"/>
              </a:rPr>
              <a:t>Результат экспортируется в DICOM SR — сразу в PACS без доработок.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03320"/>
            <a:ext cx="178308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0" y="3776472"/>
            <a:ext cx="1508760" cy="57058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100 %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321454"/>
            <a:ext cx="1508760" cy="5468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успешных обработок (499/499)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3703320"/>
            <a:ext cx="178308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02752" y="3776472"/>
            <a:ext cx="1508760" cy="57058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0.05 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321454"/>
            <a:ext cx="1508760" cy="5468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на снимок в батч-режиме, CPU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3703320"/>
            <a:ext cx="178308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195560" y="3776472"/>
            <a:ext cx="1508760" cy="57058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0.78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4321454"/>
            <a:ext cx="1508760" cy="5468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ROC-AUC «есть нарушение» (OOF)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5074920"/>
            <a:ext cx="5577840" cy="1097280"/>
          </a:xfrm>
          <a:prstGeom prst="roundRect">
            <a:avLst>
              <a:gd name="adj" fmla="val 15000"/>
            </a:avLst>
          </a:prstGeom>
          <a:solidFill>
            <a:srgbClr val="520978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6520" y="5120640"/>
            <a:ext cx="52578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FFD6E4"/>
                </a:solidFill>
                <a:latin typeface="Montserrat"/>
              </a:rPr>
              <a:t>Демо доступно сейчас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Montserrat"/>
              </a:rPr>
              <a:t>neuropeople.pro — веб-интерфейс и REST API (Swagger: /docs); репозиторий с моделями и Dockerfile: neuropeople.pro/git/densitoai.git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84280" y="63550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75"/>
                </a:solidFill>
                <a:latin typeface="Montserrat"/>
              </a:rPr>
              <a:t>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320040"/>
            <a:ext cx="5771692" cy="621792"/>
          </a:xfrm>
          <a:prstGeom prst="roundRect">
            <a:avLst>
              <a:gd name="adj" fmla="val 22058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320040"/>
            <a:ext cx="5771692" cy="621792"/>
          </a:xfrm>
          <a:prstGeom prst="rect">
            <a:avLst/>
          </a:prstGeom>
          <a:noFill/>
        </p:spPr>
        <p:txBody>
          <a:bodyPr wrap="square" lIns="137160" rIns="137160" tIns="137160" bIns="13716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ontserrat"/>
              </a:rPr>
              <a:t>Архитектура: два контура + стэкинг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182880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02920" y="1508760"/>
            <a:ext cx="384048" cy="384048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993392"/>
            <a:ext cx="1609344" cy="2057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DICOM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1D22"/>
                </a:solidFill>
                <a:latin typeface="Montserrat"/>
              </a:rPr>
              <a:t>pydicom: MONOCHROME1/2, 16 бит, RGB, многокадровые; PixelSpacing 1.05×0.6 мм → нормализация в uint8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76272" y="2606040"/>
            <a:ext cx="146304" cy="274320"/>
          </a:xfrm>
          <a:prstGeom prst="rightArrow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1371600"/>
            <a:ext cx="182880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423160" y="1508760"/>
            <a:ext cx="384048" cy="384048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423160" y="150876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1993392"/>
            <a:ext cx="1609344" cy="2057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Область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1D22"/>
                </a:solidFill>
                <a:latin typeface="Montserrat"/>
              </a:rPr>
              <a:t>теги BodyPart / Protocol → ширина кадра 300/280/248 px → контентная модель на эмбеддингах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96512" y="2606040"/>
            <a:ext cx="146304" cy="274320"/>
          </a:xfrm>
          <a:prstGeom prst="rightArrow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0" y="1371600"/>
            <a:ext cx="182880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343400" y="1508760"/>
            <a:ext cx="384048" cy="384048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3400" y="150876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1993392"/>
            <a:ext cx="1609344" cy="2057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Контур A: геометрия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1D22"/>
                </a:solidFill>
                <a:latin typeface="Montserrat"/>
              </a:rPr>
              <a:t>сегментация кости, ось и её наклон, симметрия, положение головки/диафиза, границы ROI, плотностные выбросы (≈60 признаков)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16752" y="2606040"/>
            <a:ext cx="146304" cy="274320"/>
          </a:xfrm>
          <a:prstGeom prst="rightArrow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1371600"/>
            <a:ext cx="182880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263640" y="1508760"/>
            <a:ext cx="384048" cy="384048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63640" y="150876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1993392"/>
            <a:ext cx="1609344" cy="2057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Контур B: эмбеддинги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1D22"/>
                </a:solidFill>
                <a:latin typeface="Montserrat"/>
              </a:rPr>
              <a:t>EfficientNet-B0 (ImageNet, CPU) → 1280-мерный вектор → логистическая регрессия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36992" y="2606040"/>
            <a:ext cx="146304" cy="274320"/>
          </a:xfrm>
          <a:prstGeom prst="rightArrow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1371600"/>
            <a:ext cx="182880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183880" y="1508760"/>
            <a:ext cx="384048" cy="384048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83880" y="150876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1993392"/>
            <a:ext cx="1609344" cy="2057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Стэкинг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1D22"/>
                </a:solidFill>
                <a:latin typeface="Montserrat"/>
              </a:rPr>
              <a:t>ранговое усреднение контуров по каждому из 5 критериев, пороги подобраны по OOF, any-модель для quality_prob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857232" y="2606040"/>
            <a:ext cx="146304" cy="274320"/>
          </a:xfrm>
          <a:prstGeom prst="rightArrow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66960" y="1371600"/>
            <a:ext cx="182880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10104120" y="1508760"/>
            <a:ext cx="384048" cy="384048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104120" y="150876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76688" y="1993392"/>
            <a:ext cx="1609344" cy="2057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Выход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1D22"/>
                </a:solidFill>
                <a:latin typeface="Montserrat"/>
              </a:rPr>
              <a:t>CSV/XLSX по ТЗ, REST API, веб-интерфейс, PNG-визуализация, DICOM SR, исправленный ROI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343400"/>
            <a:ext cx="5669280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48640" y="4434840"/>
            <a:ext cx="534924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520978"/>
                </a:solidFill>
                <a:latin typeface="Montserrat"/>
              </a:rPr>
              <a:t>Почему два контура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00" b="0">
                <a:solidFill>
                  <a:srgbClr val="1C1D22"/>
                </a:solidFill>
                <a:latin typeface="Montserrat"/>
              </a:rPr>
              <a:t>Ось позвоночника: геометрия ROC-AUC 0.84 против 0.49 у эмбеддингов.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00" b="0">
                <a:solidFill>
                  <a:srgbClr val="1C1D22"/>
                </a:solidFill>
                <a:latin typeface="Montserrat"/>
              </a:rPr>
              <a:t>Посторонние предметы: эмбеддинги 0.90 против 0.56 у геометрии.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00" b="0">
                <a:solidFill>
                  <a:srgbClr val="1C1D22"/>
                </a:solidFill>
                <a:latin typeface="Montserrat"/>
              </a:rPr>
              <a:t>Контуры дополняют друг друга — стэкинг берёт лучшее от каждого по критерию.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343400"/>
            <a:ext cx="5577840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46520" y="4434840"/>
            <a:ext cx="525780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520978"/>
                </a:solidFill>
                <a:latin typeface="Montserrat"/>
              </a:rPr>
              <a:t>Правило решения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00" b="0">
                <a:solidFill>
                  <a:srgbClr val="1C1D22"/>
                </a:solidFill>
                <a:latin typeface="Montserrat"/>
              </a:rPr>
              <a:t>quality_class = 1, если хотя бы один критерий превысил свой порог; violation_type — все сработавшие критерии через «;».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00" b="0">
                <a:solidFill>
                  <a:srgbClr val="1C1D22"/>
                </a:solidFill>
                <a:latin typeface="Montserrat"/>
              </a:rPr>
              <a:t>quality_prob = смесь any-модели и максимума по критериям, согласованная с классом (класс 1 → prob ≥ 0.5).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100" b="0">
                <a:solidFill>
                  <a:srgbClr val="1C1D22"/>
                </a:solidFill>
                <a:latin typeface="Montserrat"/>
              </a:rPr>
              <a:t>Бедро: правая и левая стороны — одна объединённая модель (зеркалирование), AUC 0.58/0.48 → 0.70.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84280" y="63550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75"/>
                </a:solidFill>
                <a:latin typeface="Montserrat"/>
              </a:rPr>
              <a:t>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320040"/>
            <a:ext cx="6078931" cy="621792"/>
          </a:xfrm>
          <a:prstGeom prst="roundRect">
            <a:avLst>
              <a:gd name="adj" fmla="val 22058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320040"/>
            <a:ext cx="6078931" cy="621792"/>
          </a:xfrm>
          <a:prstGeom prst="rect">
            <a:avLst/>
          </a:prstGeom>
          <a:noFill/>
        </p:spPr>
        <p:txBody>
          <a:bodyPr wrap="square" lIns="137160" rIns="137160" tIns="137160" bIns="13716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ontserrat"/>
              </a:rPr>
              <a:t>Данные, разметка и честная валидация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5852158" cy="25603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14859"/>
                <a:gridCol w="896701"/>
                <a:gridCol w="1085481"/>
                <a:gridCol w="75511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Область / критерий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Снимков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Нарушений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Доля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Позвоночник — некорректная укладка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166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6 %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Позвоночник — не выравнена ось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166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17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10 %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Позвоночник — посторонние предметы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166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35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21 %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Бедро — некорректная укладка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329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79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24 %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Бедро — некорректная область интереса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329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5 %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Итого «есть нарушение»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495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152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31 %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931920"/>
            <a:ext cx="5760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B6B75"/>
                </a:solidFill>
                <a:latin typeface="Montserrat"/>
              </a:rPr>
              <a:t>499 файлов / 100 исследований; 4 снимка без разметки по региону исключены из обучения, но обрабатываются сервисом.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434840"/>
            <a:ext cx="5852160" cy="1737360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557784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520978"/>
                </a:solidFill>
                <a:latin typeface="Montserrat"/>
              </a:rPr>
              <a:t>Как читали разметку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050" b="0">
                <a:solidFill>
                  <a:srgbClr val="1C1D22"/>
                </a:solidFill>
                <a:latin typeface="Montserrat"/>
              </a:rPr>
              <a:t>Ключ соединения — папка исследования; критерии из XLSX по каждому снимку, столбец «Итог» не используется как таргет.</a:t>
            </a:r>
          </a:p>
          <a:p>
            <a:pPr algn="l">
              <a:lnSpc>
                <a:spcPct val="110000"/>
              </a:lnSpc>
            </a:pPr>
            <a:r>
              <a:rPr sz="10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050" b="0">
                <a:solidFill>
                  <a:srgbClr val="1C1D22"/>
                </a:solidFill>
                <a:latin typeface="Montserrat"/>
              </a:rPr>
              <a:t>Правило «ошибка ROI при некорректной укладке не помечается» учтено при формировании таргетов (по разъяснениям организаторов).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234440"/>
            <a:ext cx="5394960" cy="49377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29400" y="1371600"/>
            <a:ext cx="507492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520978"/>
                </a:solidFill>
                <a:latin typeface="Montserrat"/>
              </a:rPr>
              <a:t>Протокол валидации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FF0053"/>
                </a:solidFill>
                <a:latin typeface="Montserrat"/>
              </a:rPr>
              <a:t>1 </a:t>
            </a:r>
            <a:r>
              <a:rPr sz="1100" b="0">
                <a:solidFill>
                  <a:srgbClr val="1C1D22"/>
                </a:solidFill>
                <a:latin typeface="Montserrat"/>
              </a:rPr>
              <a:t>StratifiedGroupKFold (5 фолдов) с группировкой по исследованию: снимки одного пациента никогда не попадают одновременно в train и test.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FF0053"/>
                </a:solidFill>
                <a:latin typeface="Montserrat"/>
              </a:rPr>
              <a:t>2 </a:t>
            </a:r>
            <a:r>
              <a:rPr sz="1100" b="0">
                <a:solidFill>
                  <a:srgbClr val="1C1D22"/>
                </a:solidFill>
                <a:latin typeface="Montserrat"/>
              </a:rPr>
              <a:t>Три сида, все метрики — только на out-of-fold предсказаниях (OOF), пороги подбираются внутри фолдов.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FF0053"/>
                </a:solidFill>
                <a:latin typeface="Montserrat"/>
              </a:rPr>
              <a:t>3 </a:t>
            </a:r>
            <a:r>
              <a:rPr sz="1100" b="0">
                <a:solidFill>
                  <a:srgbClr val="1C1D22"/>
                </a:solidFill>
                <a:latin typeface="Montserrat"/>
              </a:rPr>
              <a:t>95 % доверительные интервалы — бутстрап по исследованиям, 2000 повторов. При 10–17 позитивах интервалы широкие, и мы их показываем.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FF0053"/>
                </a:solidFill>
                <a:latin typeface="Montserrat"/>
              </a:rPr>
              <a:t>4 </a:t>
            </a:r>
            <a:r>
              <a:rPr sz="1100" b="0">
                <a:solidFill>
                  <a:srgbClr val="1C1D22"/>
                </a:solidFill>
                <a:latin typeface="Montserrat"/>
              </a:rPr>
              <a:t>Финальные модели обучены на всех 100 исследованиях с теми же гиперпараметрами; регрессионный прогон 499 файлов сравнивается побайтно после каждого изменения.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0053"/>
                </a:solidFill>
                <a:latin typeface="Montserrat"/>
              </a:rPr>
              <a:t>5 </a:t>
            </a:r>
            <a:r>
              <a:rPr sz="1100" b="0">
                <a:solidFill>
                  <a:srgbClr val="1C1D22"/>
                </a:solidFill>
                <a:latin typeface="Montserrat"/>
              </a:rPr>
              <a:t>Автотест формата выгрузки (порядок и типы 9 полей, разделитель «;», согласованность prob/class) запускается при сборке Docker-образа.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84280" y="63550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75"/>
                </a:solidFill>
                <a:latin typeface="Montserrat"/>
              </a:rPr>
              <a:t>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320040"/>
            <a:ext cx="6386169" cy="621792"/>
          </a:xfrm>
          <a:prstGeom prst="roundRect">
            <a:avLst>
              <a:gd name="adj" fmla="val 22058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320040"/>
            <a:ext cx="6386169" cy="621792"/>
          </a:xfrm>
          <a:prstGeom prst="rect">
            <a:avLst/>
          </a:prstGeom>
          <a:noFill/>
        </p:spPr>
        <p:txBody>
          <a:bodyPr wrap="square" lIns="137160" rIns="137160" tIns="137160" bIns="13716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ontserrat"/>
              </a:rPr>
              <a:t>Пять типов нарушений и мульти-разметка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2212848" cy="324612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2344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0053"/>
                </a:solidFill>
                <a:latin typeface="Montserrat"/>
              </a:rPr>
              <a:t>Позвоночник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64792"/>
            <a:ext cx="1993391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Некорректная укладка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Смещение/поворот таза и позвонков относительно кадра; признаки: положение центра масс кости, углы границ, доля кости в кадре.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6B6B75"/>
                </a:solidFill>
                <a:latin typeface="Montserrat"/>
              </a:rPr>
              <a:t>sp_pos · порог 0.81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234440"/>
            <a:ext cx="2212848" cy="324612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834639" y="13716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34639" y="1371600"/>
            <a:ext cx="12344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0053"/>
                </a:solidFill>
                <a:latin typeface="Montserrat"/>
              </a:rPr>
              <a:t>Позвоночник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1764792"/>
            <a:ext cx="1993391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Не выравнена ось позвоночника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Оценка оси по центрам позвонков построчно; наклон, кривизна, отклонение от вертикали кадра.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6B6B75"/>
                </a:solidFill>
                <a:latin typeface="Montserrat"/>
              </a:rPr>
              <a:t>sp_axis · порог 0.76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234440"/>
            <a:ext cx="2212848" cy="324612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166360" y="13716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166360" y="1371600"/>
            <a:ext cx="12344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0053"/>
                </a:solidFill>
                <a:latin typeface="Montserrat"/>
              </a:rPr>
              <a:t>Позвоночник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764792"/>
            <a:ext cx="1993391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Присутствуют посторонние предметы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Металл, пуговицы, имплантаты: локальные выбросы плотности + эмбеддинги.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6B6B75"/>
                </a:solidFill>
                <a:latin typeface="Montserrat"/>
              </a:rPr>
              <a:t>sp_art · порог 0.56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1234440"/>
            <a:ext cx="2212848" cy="324612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498079" y="13716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79" y="1371600"/>
            <a:ext cx="12344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520978"/>
                </a:solidFill>
                <a:latin typeface="Montserrat"/>
              </a:rPr>
              <a:t>Бедро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7" y="1764792"/>
            <a:ext cx="1993391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Некорректная укладка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Ротация/абдукция бедра: угол диафиза, форма малого вертела, симметрия шейки.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6B6B75"/>
                </a:solidFill>
                <a:latin typeface="Montserrat"/>
              </a:rPr>
              <a:t>hip_pos · порог 0.71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234440"/>
            <a:ext cx="2212848" cy="324612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829800" y="13716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829800" y="1371600"/>
            <a:ext cx="12344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520978"/>
                </a:solidFill>
                <a:latin typeface="Montserrat"/>
              </a:rPr>
              <a:t>Бедро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7" y="1764792"/>
            <a:ext cx="1993391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Некорректная область интереса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Выход шейки/головки за границы ROI, обрезка диафиза; геометрия границ ROI относительно кости.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6B6B75"/>
                </a:solidFill>
                <a:latin typeface="Montserrat"/>
              </a:rPr>
              <a:t>hip_roi · порог 0.89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663440"/>
            <a:ext cx="1147572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" y="4754880"/>
            <a:ext cx="11155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520978"/>
                </a:solidFill>
                <a:latin typeface="Montserrat"/>
              </a:rPr>
              <a:t>Несколько нарушений на одном снимке — штатный случай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1C1D22"/>
                </a:solidFill>
                <a:latin typeface="Montserrat"/>
              </a:rPr>
              <a:t>Каждый критерий — независимая модель, поэтому строка выгрузки может содержать сразу несколько типов через «;», например: </a:t>
            </a:r>
            <a:r>
              <a:rPr sz="1100" b="1">
                <a:solidFill>
                  <a:srgbClr val="FF0053"/>
                </a:solidFill>
                <a:latin typeface="Montserrat"/>
              </a:rPr>
              <a:t>Не выравнена ось позвоночника;Присутствуют посторонние предметы</a:t>
            </a:r>
            <a:r>
              <a:rPr sz="1100" b="0">
                <a:solidFill>
                  <a:srgbClr val="1C1D22"/>
                </a:solidFill>
                <a:latin typeface="Montserrat"/>
              </a:rPr>
              <a:t>. Значения полей — строго из словаря ТЗ, без сокращений и синонимов; quality_prob — вероятность класса 1, согласованная с quality_class.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84280" y="63550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75"/>
                </a:solidFill>
                <a:latin typeface="Montserrat"/>
              </a:rPr>
              <a:t>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320040"/>
            <a:ext cx="6386169" cy="621792"/>
          </a:xfrm>
          <a:prstGeom prst="roundRect">
            <a:avLst>
              <a:gd name="adj" fmla="val 22058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320040"/>
            <a:ext cx="6386169" cy="621792"/>
          </a:xfrm>
          <a:prstGeom prst="rect">
            <a:avLst/>
          </a:prstGeom>
          <a:noFill/>
        </p:spPr>
        <p:txBody>
          <a:bodyPr wrap="square" lIns="137160" rIns="137160" tIns="137160" bIns="13716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ontserrat"/>
              </a:rPr>
              <a:t>Эксперименты: что сработало, а что нет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5852159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05396"/>
                <a:gridCol w="1064029"/>
                <a:gridCol w="1152698"/>
                <a:gridCol w="1330036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Критерий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Геометрия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Эмбеддинги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Стэкинг (итог)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1D22"/>
                          </a:solidFill>
                          <a:latin typeface="Montserrat"/>
                        </a:rPr>
                        <a:t>Позвоночник — укладка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0.61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0.60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0.60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1D22"/>
                          </a:solidFill>
                          <a:latin typeface="Montserrat"/>
                        </a:rPr>
                        <a:t>Позвоночник — ось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0.84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0.49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0.74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1D22"/>
                          </a:solidFill>
                          <a:latin typeface="Montserrat"/>
                        </a:rPr>
                        <a:t>Позвоночник — предметы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0.56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0.90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0.82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1D22"/>
                          </a:solidFill>
                          <a:latin typeface="Montserrat"/>
                        </a:rPr>
                        <a:t>Бедро — укладка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0.69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0.63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0.70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1D22"/>
                          </a:solidFill>
                          <a:latin typeface="Montserrat"/>
                        </a:rPr>
                        <a:t>Бедро — ROI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0.90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0.88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0.92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611880"/>
            <a:ext cx="5760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B6B75"/>
                </a:solidFill>
                <a:latin typeface="Montserrat"/>
              </a:rPr>
              <a:t>ROC-AUC по критериям на OOF-предсказаниях. Стэкинг устойчивее любого одиночного контура на редких классах.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114800"/>
            <a:ext cx="5852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557784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520978"/>
                </a:solidFill>
                <a:latin typeface="Montserrat"/>
              </a:rPr>
              <a:t>Что улучшило результат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437A22"/>
                </a:solidFill>
                <a:latin typeface="Montserrat"/>
              </a:rPr>
              <a:t>+ </a:t>
            </a:r>
            <a:r>
              <a:rPr sz="1050" b="0">
                <a:solidFill>
                  <a:srgbClr val="1C1D22"/>
                </a:solidFill>
                <a:latin typeface="Montserrat"/>
              </a:rPr>
              <a:t>Объединённая модель правого и левого бедра с зеркалированием: укладка AUC 0.58/0.48 → 0.70.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437A22"/>
                </a:solidFill>
                <a:latin typeface="Montserrat"/>
              </a:rPr>
              <a:t>+ </a:t>
            </a:r>
            <a:r>
              <a:rPr sz="1050" b="0">
                <a:solidFill>
                  <a:srgbClr val="1C1D22"/>
                </a:solidFill>
                <a:latin typeface="Montserrat"/>
              </a:rPr>
              <a:t>Согласование quality_prob с классом: бинарный ROC-AUC позвоночника 0.735 → 0.775.</a:t>
            </a:r>
          </a:p>
          <a:p>
            <a:pPr algn="l">
              <a:lnSpc>
                <a:spcPct val="110000"/>
              </a:lnSpc>
            </a:pPr>
            <a:r>
              <a:rPr sz="1050" b="1">
                <a:solidFill>
                  <a:srgbClr val="437A22"/>
                </a:solidFill>
                <a:latin typeface="Montserrat"/>
              </a:rPr>
              <a:t>+ </a:t>
            </a:r>
            <a:r>
              <a:rPr sz="1050" b="0">
                <a:solidFill>
                  <a:srgbClr val="1C1D22"/>
                </a:solidFill>
                <a:latin typeface="Montserrat"/>
              </a:rPr>
              <a:t>Определение области по содержимому — устойчиво к переименованным и нестандартным файлам.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234440"/>
            <a:ext cx="5394960" cy="49377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29400" y="1371600"/>
            <a:ext cx="507492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520978"/>
                </a:solidFill>
                <a:latin typeface="Montserrat"/>
              </a:rPr>
              <a:t>Что не сработало и почему мы это оставили за бортом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– </a:t>
            </a:r>
            <a:r>
              <a:rPr sz="1050" b="1">
                <a:solidFill>
                  <a:srgbClr val="1C1D22"/>
                </a:solidFill>
                <a:latin typeface="Montserrat"/>
              </a:rPr>
              <a:t>Дообучение CNN end-to-end на 499 снимках: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переобучение, OOF-AUC ниже линейной модели на замороженных эмбеддингах.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– </a:t>
            </a:r>
            <a:r>
              <a:rPr sz="1050" b="1">
                <a:solidFill>
                  <a:srgbClr val="1C1D22"/>
                </a:solidFill>
                <a:latin typeface="Montserrat"/>
              </a:rPr>
              <a:t>Единая мультиклассовая модель вместо пяти бинарных: </a:t>
            </a:r>
            <a:r>
              <a:rPr sz="1050" b="0">
                <a:solidFill>
                  <a:srgbClr val="1C1D22"/>
                </a:solidFill>
                <a:latin typeface="Montserrat"/>
              </a:rPr>
              <a:t>теряет редкие классы (10 и 16 позитивов), невозможно выдать несколько нарушений.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– </a:t>
            </a:r>
            <a:r>
              <a:rPr sz="1050" b="1">
                <a:solidFill>
                  <a:srgbClr val="1C1D22"/>
                </a:solidFill>
                <a:latin typeface="Montserrat"/>
              </a:rPr>
              <a:t>Альтернативные правила решения </a:t>
            </a:r>
            <a:r>
              <a:rPr sz="1050" b="0">
                <a:solidFill>
                  <a:srgbClr val="1C1D22"/>
                </a:solidFill>
                <a:latin typeface="Montserrat"/>
              </a:rPr>
              <a:t>(порог по any-модели, голосование, взвешенный максимум): нет устойчивого выигрыша, оставили прозрачное «ИЛИ» по критериям.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– </a:t>
            </a:r>
            <a:r>
              <a:rPr sz="1050" b="1">
                <a:solidFill>
                  <a:srgbClr val="1C1D22"/>
                </a:solidFill>
                <a:latin typeface="Montserrat"/>
              </a:rPr>
              <a:t>Имя файла как источник области: </a:t>
            </a:r>
            <a:r>
              <a:rPr sz="1050" b="0">
                <a:solidFill>
                  <a:srgbClr val="1C1D22"/>
                </a:solidFill>
                <a:latin typeface="Montserrat"/>
              </a:rPr>
              <a:t>работает на датасете, но ломается в реальном потоке — понижено до подсказки при нестандартном размере кадра.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520978"/>
                </a:solidFill>
                <a:latin typeface="Montserrat"/>
              </a:rPr>
              <a:t>Типичные ошибки сейчас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050" b="0">
                <a:solidFill>
                  <a:srgbClr val="1C1D22"/>
                </a:solidFill>
                <a:latin typeface="Montserrat"/>
              </a:rPr>
              <a:t>Пропуск лёгкой ротации бедра при почти симметричной шейке (hip_pos, чувствительность 0.43).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050" b="0">
                <a:solidFill>
                  <a:srgbClr val="1C1D22"/>
                </a:solidFill>
                <a:latin typeface="Montserrat"/>
              </a:rPr>
              <a:t>Ложные срабатывания «посторонние предметы» на плотных остеофитах и кальцинатах аорты.</a:t>
            </a:r>
          </a:p>
          <a:p>
            <a:pPr algn="l">
              <a:lnSpc>
                <a:spcPct val="110000"/>
              </a:lnSpc>
            </a:pPr>
            <a:r>
              <a:rPr sz="10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050" b="0">
                <a:solidFill>
                  <a:srgbClr val="1C1D22"/>
                </a:solidFill>
                <a:latin typeface="Montserrat"/>
              </a:rPr>
              <a:t>Укладка позвоночника: 10 позитивов — метрика нестабильна, нужен больший объём разметки.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84280" y="63550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75"/>
                </a:solidFill>
                <a:latin typeface="Montserrat"/>
              </a:rPr>
              <a:t>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320040"/>
            <a:ext cx="5310835" cy="621792"/>
          </a:xfrm>
          <a:prstGeom prst="roundRect">
            <a:avLst>
              <a:gd name="adj" fmla="val 22058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320040"/>
            <a:ext cx="5310835" cy="621792"/>
          </a:xfrm>
          <a:prstGeom prst="rect">
            <a:avLst/>
          </a:prstGeom>
          <a:noFill/>
        </p:spPr>
        <p:txBody>
          <a:bodyPr wrap="square" lIns="137160" rIns="137160" tIns="137160" bIns="13716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ontserrat"/>
              </a:rPr>
              <a:t>Метрики качества (OOF, 95 % ДИ)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75715" cy="12344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63736"/>
                <a:gridCol w="1368663"/>
                <a:gridCol w="736972"/>
                <a:gridCol w="736972"/>
                <a:gridCol w="947536"/>
                <a:gridCol w="1789791"/>
                <a:gridCol w="1789791"/>
                <a:gridCol w="842254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Бинарная задача «есть нарушение»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n / позитивных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Sens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Spec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Bal. Acc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F1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ROC-AUC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PR-AUC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1D22"/>
                          </a:solidFill>
                          <a:latin typeface="Montserrat"/>
                        </a:rPr>
                        <a:t>Поясничный отдел позвоночника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166 / 60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0.80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0.65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0.73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0.66 [0.50; 0.79]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0.78 [0.64; 0.89]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0.65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1D22"/>
                          </a:solidFill>
                          <a:latin typeface="Montserrat"/>
                        </a:rPr>
                        <a:t>Проксимальный отдел бедра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329 / 92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0.60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0.92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0.76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0.67 [0.48; 0.80]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0.77 [0.62; 0.90]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0.70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2743200"/>
          <a:ext cx="7589520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26080"/>
                <a:gridCol w="640080"/>
                <a:gridCol w="640080"/>
                <a:gridCol w="640080"/>
                <a:gridCol w="1371600"/>
                <a:gridCol w="13716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По типам нарушений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n_pos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Sens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Spec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F1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ROC-AUC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52097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Позвоночник — некорректная укладка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0.40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0.96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0.38 [0.00; 0.71]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0.60 [0.28; 1.00]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Позвоночник — не выравнена ось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17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0.47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0.89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0.38 [0.09; 0.62]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0.74 [0.56; 0.89]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Позвоночник — посторонние предметы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35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0.83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0.75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0.60 [0.33; 0.77]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0.82 [0.69; 0.91]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Бедро — некорректная укладка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79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0.43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0.92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0.51 [0.30; 0.68]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0.70 [0.58; 0.81]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6F3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C1D22"/>
                          </a:solidFill>
                          <a:latin typeface="Montserrat"/>
                        </a:rPr>
                        <a:t>Бедро — некорректная область интереса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0.88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0.96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0.64 [0.20; 0.96]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0.92 [0.73; 1.00]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DD8EC"/>
                      </a:solidFill>
                    </a:lnL>
                    <a:lnR w="6350">
                      <a:solidFill>
                        <a:srgbClr val="DDD8EC"/>
                      </a:solidFill>
                    </a:lnR>
                    <a:lnT w="6350">
                      <a:solidFill>
                        <a:srgbClr val="DDD8EC"/>
                      </a:solidFill>
                    </a:lnT>
                    <a:lnB w="6350">
                      <a:solidFill>
                        <a:srgbClr val="DDD8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029200"/>
            <a:ext cx="74980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B6B75"/>
                </a:solidFill>
                <a:latin typeface="Montserrat"/>
              </a:rPr>
              <a:t>Macro-F1 по типам: позвоночник 0.45 [0.29; 0.61], бедро 0.57 [0.35; 0.75]. Все значения — out-of-fold, группировка по исследованию, бутстрап 2000 повторов.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2743200"/>
            <a:ext cx="3657600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39327" y="2834640"/>
            <a:ext cx="3383280" cy="3291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520978"/>
                </a:solidFill>
                <a:latin typeface="Montserrat"/>
              </a:rPr>
              <a:t>Как читать эти цифры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050" b="0">
                <a:solidFill>
                  <a:srgbClr val="1C1D22"/>
                </a:solidFill>
                <a:latin typeface="Montserrat"/>
              </a:rPr>
              <a:t>Позвоночник настроен на чувствительность (0.80): пропустить нарушение дороже, чем перепроверить снимок.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050" b="0">
                <a:solidFill>
                  <a:srgbClr val="1C1D22"/>
                </a:solidFill>
                <a:latin typeface="Montserrat"/>
              </a:rPr>
              <a:t>Бедро — на специфичность (0.92): поток снимков в 2 раза больше, важно не перегружать врача ложными тревогами.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050" b="0">
                <a:solidFill>
                  <a:srgbClr val="1C1D22"/>
                </a:solidFill>
                <a:latin typeface="Montserrat"/>
              </a:rPr>
              <a:t>Пороги — параметр в config.yaml, рабочую точку можно сместить под приоритеты отделения без переобучения.</a:t>
            </a:r>
          </a:p>
          <a:p>
            <a:pPr algn="l">
              <a:lnSpc>
                <a:spcPct val="110000"/>
              </a:lnSpc>
            </a:pPr>
            <a:r>
              <a:rPr sz="105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050" b="0">
                <a:solidFill>
                  <a:srgbClr val="1C1D22"/>
                </a:solidFill>
                <a:latin typeface="Montserrat"/>
              </a:rPr>
              <a:t>Мы публикуем ДИ честно: при 10–17 позитивах ни одна команда не может гарантировать точку, только интервал.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486400"/>
            <a:ext cx="7498079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520978"/>
                </a:solidFill>
                <a:latin typeface="Montserrat"/>
              </a:rPr>
              <a:t>Скорость и надёжность: </a:t>
            </a:r>
            <a:r>
              <a:rPr sz="1050" b="0">
                <a:solidFill>
                  <a:srgbClr val="1C1D22"/>
                </a:solidFill>
                <a:latin typeface="Montserrat"/>
              </a:rPr>
              <a:t>499 файлов за 23 с в батч-режиме (0.05 с/снимок, 2 vCPU), 1.1–2.1 с/снимок через API вместе с визуализацией и DICOM SR; 499/499 Success, 0 исключений; предельно допустимое время по ТЗ — 3 минуты на исследование.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84280" y="63550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75"/>
                </a:solidFill>
                <a:latin typeface="Montserrat"/>
              </a:rPr>
              <a:t>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320040"/>
            <a:ext cx="6949440" cy="621792"/>
          </a:xfrm>
          <a:prstGeom prst="roundRect">
            <a:avLst>
              <a:gd name="adj" fmla="val 22058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320040"/>
            <a:ext cx="6949440" cy="621792"/>
          </a:xfrm>
          <a:prstGeom prst="rect">
            <a:avLst/>
          </a:prstGeom>
          <a:noFill/>
        </p:spPr>
        <p:txBody>
          <a:bodyPr wrap="square" lIns="137160" rIns="137160" tIns="137160" bIns="13716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ontserrat"/>
              </a:rPr>
              <a:t>Демонстрация: объяснимый результат для врача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212848" cy="498348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overlay_roi_test_CR000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383974"/>
            <a:ext cx="1938528" cy="29013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4434840"/>
            <a:ext cx="1993391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Позвоночник · класс 1 · p = 0.88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1D22"/>
                </a:solidFill>
                <a:latin typeface="Montserrat"/>
              </a:rPr>
              <a:t>Не выравнена ось позвоночника; Присутствуют посторонние предметы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9191" y="1188720"/>
            <a:ext cx="2212848" cy="498348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overlay_norm_sp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351" y="1564904"/>
            <a:ext cx="1938528" cy="25394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88920" y="4434840"/>
            <a:ext cx="1993391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437A22"/>
                </a:solidFill>
                <a:latin typeface="Montserrat"/>
              </a:rPr>
              <a:t>Позвоночник · класс 0 · p = 0.12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1D22"/>
                </a:solidFill>
                <a:latin typeface="Montserrat"/>
              </a:rPr>
              <a:t>Нарушений не выявлено; ось и границы в норме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2624" y="1188720"/>
            <a:ext cx="2212848" cy="498348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overlay_roi_test_CR0000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3963" y="1325879"/>
            <a:ext cx="1890169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02352" y="4434840"/>
            <a:ext cx="1993391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Бедро · класс 1 · p = 0.91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1D22"/>
                </a:solidFill>
                <a:latin typeface="Montserrat"/>
              </a:rPr>
              <a:t>Некорректная укладка (ротация, угол диафиза)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6056" y="1188720"/>
            <a:ext cx="2212848" cy="498348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overlay_roi_test_CR000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216" y="1664599"/>
            <a:ext cx="1938528" cy="2340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15783" y="4434840"/>
            <a:ext cx="1993391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Бедро · класс 1 · p = 0.93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1D22"/>
                </a:solidFill>
                <a:latin typeface="Montserrat"/>
              </a:rPr>
              <a:t>Некорректная область интереса; ниже — предложенный ROI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19488" y="1188720"/>
            <a:ext cx="2212848" cy="498348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overlay_norm_hi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9200" y="1325880"/>
            <a:ext cx="1933422" cy="30175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29215" y="4434840"/>
            <a:ext cx="1993391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437A22"/>
                </a:solidFill>
                <a:latin typeface="Montserrat"/>
              </a:rPr>
              <a:t>Бедро · класс 0 · p = 0.04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1D22"/>
                </a:solidFill>
                <a:latin typeface="Montserrat"/>
              </a:rPr>
              <a:t>Нарушений не выявлено</a:t>
            </a:r>
          </a:p>
        </p:txBody>
      </p:sp>
      <p:pic>
        <p:nvPicPr>
          <p:cNvPr id="20" name="Picture 19" descr="roi_roi_test_CR0000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0496" y="5303520"/>
            <a:ext cx="868680" cy="63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84280" y="63550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Montserrat"/>
              </a:rPr>
              <a:t>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320040"/>
            <a:ext cx="6949440" cy="621792"/>
          </a:xfrm>
          <a:prstGeom prst="roundRect">
            <a:avLst>
              <a:gd name="adj" fmla="val 22058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320040"/>
            <a:ext cx="6949440" cy="621792"/>
          </a:xfrm>
          <a:prstGeom prst="rect">
            <a:avLst/>
          </a:prstGeom>
          <a:noFill/>
        </p:spPr>
        <p:txBody>
          <a:bodyPr wrap="square" lIns="137160" rIns="137160" tIns="137160" bIns="13716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ontserrat"/>
              </a:rPr>
              <a:t>Скорость, надёжность, системные требования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2697480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307592"/>
            <a:ext cx="2423160" cy="68031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0053"/>
                </a:solidFill>
                <a:latin typeface="Montserrat"/>
              </a:rPr>
              <a:t>0.05 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71446"/>
            <a:ext cx="2423160" cy="651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на один снимок в батч-режиме (CLI, 2 vCPU, без GPU)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234440"/>
            <a:ext cx="2697480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29000" y="1307592"/>
            <a:ext cx="2423160" cy="68031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0053"/>
                </a:solidFill>
                <a:latin typeface="Montserrat"/>
              </a:rPr>
              <a:t>23 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71446"/>
            <a:ext cx="2423160" cy="651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полный обучающий набор — 499 файлов, 100 исследований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2697480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5080" y="1307592"/>
            <a:ext cx="2423160" cy="68031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0053"/>
                </a:solidFill>
                <a:latin typeface="Montserrat"/>
              </a:rPr>
              <a:t>1.1–2.1 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71446"/>
            <a:ext cx="2423160" cy="651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на снимок через REST API вместе с визуализацией и DICOM SR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234440"/>
            <a:ext cx="2697480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81160" y="1307592"/>
            <a:ext cx="2423160" cy="68031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0053"/>
                </a:solidFill>
                <a:latin typeface="Montserrat"/>
              </a:rPr>
              <a:t>499 / 499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971446"/>
            <a:ext cx="2423160" cy="651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статус Success, 0 необработанных исключений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880360"/>
            <a:ext cx="56692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8640" y="2990088"/>
            <a:ext cx="5349240" cy="310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520978"/>
                </a:solidFill>
                <a:latin typeface="Montserrat"/>
              </a:rPr>
              <a:t>Системные требования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CPU x86-64, 2 ядра (рекомендуется 4–8), RAM 4 ГБ (рекомендуется 8), диск 3 ГБ; GPU не требуется.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Docker 24+; образ densitoai:2.1.0 ≈ 2.3 ГБ, все модели и веса внутри, сеть при работе не используется.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Вход: папка с DICOM (любая вложенность), zip-архив, одиночные файлы; MONOCHROME1/2, 16 бит, RGB, многокадровые.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Выход: CSV и XLSX по формату ТЗ, JSON через API, PNG-визуализация, DICOM SR.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На стенде организаторов (44 vCPU, 2×H200) GPU не задействуется осознанно — решение переносимо на любой сервер отделения.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880360"/>
            <a:ext cx="55778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2990088"/>
            <a:ext cx="5257800" cy="310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520978"/>
                </a:solidFill>
                <a:latin typeface="Montserrat"/>
              </a:rPr>
              <a:t>Надёжность и воспроизводимость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Каждый файл обрабатывается изолированно: сбой одного — статус Failure в строке, остальные продолжают.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Нестандартный размер кадра, переименованные и битые файлы — покрыты тестами и регрессионным прогоном.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Три команды для проверки: git clone → build_and_run.sh → результат в outputs/; версия и контрольные суммы моделей в manifest.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Логи времени по каждому снимку (time_of_processing) и health-эндпоинт для мониторинга в эксплуатации.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84280" y="63550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Montserrat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320040"/>
            <a:ext cx="3849624" cy="621792"/>
          </a:xfrm>
          <a:prstGeom prst="roundRect">
            <a:avLst>
              <a:gd name="adj" fmla="val 22058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320040"/>
            <a:ext cx="3849624" cy="621792"/>
          </a:xfrm>
          <a:prstGeom prst="rect">
            <a:avLst/>
          </a:prstGeom>
          <a:noFill/>
        </p:spPr>
        <p:txBody>
          <a:bodyPr wrap="square" lIns="137160" rIns="137160" tIns="137160" bIns="13716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ontserrat"/>
              </a:rPr>
              <a:t>Сверх требований ТЗ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2212848" cy="292608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02920" y="1371600"/>
            <a:ext cx="384048" cy="384048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874519"/>
            <a:ext cx="1993391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Визуализация признаков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C1D22"/>
                </a:solidFill>
                <a:latin typeface="Montserrat"/>
              </a:rPr>
              <a:t>PNG-оверлей: ось позвоночника, контур кости, границы ROI, найденные посторонние предметы. Врач проверяет вывод модели за секунды.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1" y="1234440"/>
            <a:ext cx="2212848" cy="292608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2816351" y="1371600"/>
            <a:ext cx="384048" cy="384048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16351" y="137160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874519"/>
            <a:ext cx="1993391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DICOM SR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C1D22"/>
                </a:solidFill>
                <a:latin typeface="Montserrat"/>
              </a:rPr>
              <a:t>Структурированный отчёт по каждому снимку — результат кладётся в PACS рядом с исследованием без интеграционных доработок.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2624" y="1234440"/>
            <a:ext cx="2212848" cy="292608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129784" y="1371600"/>
            <a:ext cx="384048" cy="384048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129784" y="137160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1874519"/>
            <a:ext cx="1993391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Исправленный ROI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C1D22"/>
                </a:solidFill>
                <a:latin typeface="Montserrat"/>
              </a:rPr>
              <a:t>При ошибке области интереса бедра сервис предлагает скорректированные границы ROI и отдаёт их отдельным изображением.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6056" y="1234440"/>
            <a:ext cx="2212848" cy="292608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443216" y="1371600"/>
            <a:ext cx="384048" cy="384048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43216" y="137160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5783" y="1874519"/>
            <a:ext cx="1993391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Веб-интерфейс и API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C1D22"/>
                </a:solidFill>
                <a:latin typeface="Montserrat"/>
              </a:rPr>
              <a:t>Загрузка DICOM/zip в браузере, таблица результатов, скачивание CSV/XLSX/SR; REST API с Swagger для интеграции с МИС.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1234440"/>
            <a:ext cx="2212848" cy="292608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756648" y="1371600"/>
            <a:ext cx="384048" cy="384048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756648" y="137160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5" y="1874519"/>
            <a:ext cx="1993391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520978"/>
                </a:solidFill>
                <a:latin typeface="Montserrat"/>
              </a:rPr>
              <a:t>Инженерная честность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C1D22"/>
                </a:solidFill>
                <a:latin typeface="Montserrat"/>
              </a:rPr>
              <a:t>OOF-метрики с ДИ, регрессионный прогон, автотест формата, CHANGELOG, разбор всех разъяснений организаторов в репозитории.</a:t>
            </a:r>
          </a:p>
        </p:txBody>
      </p:sp>
      <p:pic>
        <p:nvPicPr>
          <p:cNvPr id="25" name="Picture 24" descr="web_landing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343400"/>
            <a:ext cx="5486400" cy="1828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35040" y="4343400"/>
            <a:ext cx="580644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Живое демо — neuropeople.pro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Montserrat"/>
              </a:rPr>
              <a:t>Веб-интерфейс для врача и экспертов: загрузка снимков, результат по каждому файлу, визуализация и экспорт. Swagger API — neuropeople.pro/docs. Обработка полностью локальная, снимки не покидают сервер.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84280" y="63550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75"/>
                </a:solidFill>
                <a:latin typeface="Montserrat"/>
              </a:rPr>
              <a:t>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320040"/>
            <a:ext cx="6386169" cy="621792"/>
          </a:xfrm>
          <a:prstGeom prst="roundRect">
            <a:avLst>
              <a:gd name="adj" fmla="val 22058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320040"/>
            <a:ext cx="6386169" cy="621792"/>
          </a:xfrm>
          <a:prstGeom prst="rect">
            <a:avLst/>
          </a:prstGeom>
          <a:noFill/>
        </p:spPr>
        <p:txBody>
          <a:bodyPr wrap="square" lIns="137160" rIns="137160" tIns="137160" bIns="13716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ontserrat"/>
              </a:rPr>
              <a:t>Ограничения, внедрение и план развития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3703320" cy="49377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0352" y="1344168"/>
            <a:ext cx="338328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0053"/>
                </a:solidFill>
                <a:latin typeface="Montserrat"/>
              </a:rPr>
              <a:t>Ограничения (говорим честно)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Обучение на данных одного типа денситометра; другие аппараты потребуют дообучения порогов.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Редкие классы (10 и 16 позитивов) — широкие ДИ, метрики нестабильны.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Разметка содержит противоречия (обсуждались с организаторами); часть «ошибок» модели — спорные случаи.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Сервис — помощник врача для контроля качества, а не средство постановки диагноза.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34440"/>
            <a:ext cx="3703320" cy="49377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16552" y="1344168"/>
            <a:ext cx="338328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520978"/>
                </a:solidFill>
                <a:latin typeface="Montserrat"/>
              </a:rPr>
              <a:t>Внедрение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1 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Docker-контейнер на сервере отделения или ЕМИАС-контуре, без интернета и GPU.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2 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Автозапуск по появлению исследования в PACS (DICOM listener) или по расписанию на папку.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3 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Результат — CSV/XLSX для аудита качества и DICOM SR в PACS; API для МИС.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4 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Рабочая точка (пороги) настраивается под политику отделения: «не пропустить» или «не перегрузить».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0053"/>
                </a:solidFill>
                <a:latin typeface="Montserrat"/>
              </a:rPr>
              <a:t>5 </a:t>
            </a:r>
            <a:r>
              <a:rPr sz="1200" b="0">
                <a:solidFill>
                  <a:srgbClr val="1C1D22"/>
                </a:solidFill>
                <a:latin typeface="Montserrat"/>
              </a:rPr>
              <a:t>Пилот: 1 отделение, 1 месяц, сравнение с ручным контролем врача.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34440"/>
            <a:ext cx="3703320" cy="49377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02752" y="1344168"/>
            <a:ext cx="338328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520978"/>
                </a:solidFill>
                <a:latin typeface="Montserrat"/>
              </a:rPr>
              <a:t>План развития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→ </a:t>
            </a:r>
            <a:r>
              <a:rPr sz="1200" b="1">
                <a:solidFill>
                  <a:srgbClr val="1C1D22"/>
                </a:solidFill>
                <a:latin typeface="Montserrat"/>
              </a:rPr>
              <a:t>1–2 мес: </a:t>
            </a:r>
            <a:r>
              <a:rPr sz="1200" b="0">
                <a:solidFill>
                  <a:srgbClr val="1C1D22"/>
                </a:solidFill>
                <a:latin typeface="Montserrat"/>
              </a:rPr>
              <a:t>расширение разметки совместно с экспертами ДЗМ, активное обучение на спорных случаях.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→ </a:t>
            </a:r>
            <a:r>
              <a:rPr sz="1200" b="1">
                <a:solidFill>
                  <a:srgbClr val="1C1D22"/>
                </a:solidFill>
                <a:latin typeface="Montserrat"/>
              </a:rPr>
              <a:t>3–4 мес: </a:t>
            </a:r>
            <a:r>
              <a:rPr sz="1200" b="0">
                <a:solidFill>
                  <a:srgbClr val="1C1D22"/>
                </a:solidFill>
                <a:latin typeface="Montserrat"/>
              </a:rPr>
              <a:t>признаки ротации бедра (малый вертел, шейка), сегментация позвонков для оценки оси, поддержка других денситометров.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→ </a:t>
            </a:r>
            <a:r>
              <a:rPr sz="1200" b="1">
                <a:solidFill>
                  <a:srgbClr val="1C1D22"/>
                </a:solidFill>
                <a:latin typeface="Montserrat"/>
              </a:rPr>
              <a:t>5–6 мес: </a:t>
            </a:r>
            <a:r>
              <a:rPr sz="1200" b="0">
                <a:solidFill>
                  <a:srgbClr val="1C1D22"/>
                </a:solidFill>
                <a:latin typeface="Montserrat"/>
              </a:rPr>
              <a:t>DICOM listener, интеграция с ЕМИАС/PACS, дашборд качества по отделениям и лаборантам.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0053"/>
                </a:solidFill>
                <a:latin typeface="Montserrat"/>
              </a:rPr>
              <a:t>→ </a:t>
            </a:r>
            <a:r>
              <a:rPr sz="1200" b="1">
                <a:solidFill>
                  <a:srgbClr val="1C1D22"/>
                </a:solidFill>
                <a:latin typeface="Montserrat"/>
              </a:rPr>
              <a:t>Далее: </a:t>
            </a:r>
            <a:r>
              <a:rPr sz="1200" b="0">
                <a:solidFill>
                  <a:srgbClr val="1C1D22"/>
                </a:solidFill>
                <a:latin typeface="Montserrat"/>
              </a:rPr>
              <a:t>подсказка лаборанту в момент укладки — предотвращение ошибки до снимка, регистрация как ПО медназначения.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84280" y="63550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Montserrat"/>
              </a:rPr>
              <a:t>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320040"/>
            <a:ext cx="3108960" cy="621792"/>
          </a:xfrm>
          <a:prstGeom prst="roundRect">
            <a:avLst>
              <a:gd name="adj" fmla="val 22058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7472" y="320040"/>
            <a:ext cx="3108960" cy="621792"/>
          </a:xfrm>
          <a:prstGeom prst="rect">
            <a:avLst/>
          </a:prstGeom>
          <a:noFill/>
        </p:spPr>
        <p:txBody>
          <a:bodyPr wrap="square" lIns="137160" rIns="137160" tIns="137160" bIns="13716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ontserrat"/>
              </a:rPr>
              <a:t>Итог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6949440" cy="49377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649224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520978"/>
                </a:solidFill>
                <a:latin typeface="Montserrat"/>
              </a:rPr>
              <a:t>DensitoAI — готовый к пилоту сервис контроля качества DXA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300" b="0">
                <a:solidFill>
                  <a:srgbClr val="1C1D22"/>
                </a:solidFill>
                <a:latin typeface="Montserrat"/>
              </a:rPr>
              <a:t>Выполняет все требования ТЗ: формат выгрузки, 5 типов нарушений с мульти-разметкой, локальная работа, Docker, время далеко внутри лимита.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300" b="0">
                <a:solidFill>
                  <a:srgbClr val="1C1D22"/>
                </a:solidFill>
                <a:latin typeface="Montserrat"/>
              </a:rPr>
              <a:t>Объяснимая двухконтурная архитектура — врач видит, почему снимок признан некорректным.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300" b="0">
                <a:solidFill>
                  <a:srgbClr val="1C1D22"/>
                </a:solidFill>
                <a:latin typeface="Montserrat"/>
              </a:rPr>
              <a:t>Метрики посчитаны честно (OOF, ДИ) и опубликованы вместе с кодом, моделями и разбором ошибок.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00" b="1">
                <a:solidFill>
                  <a:srgbClr val="FF0053"/>
                </a:solidFill>
                <a:latin typeface="Montserrat"/>
              </a:rPr>
              <a:t>• </a:t>
            </a:r>
            <a:r>
              <a:rPr sz="1300" b="0">
                <a:solidFill>
                  <a:srgbClr val="1C1D22"/>
                </a:solidFill>
                <a:latin typeface="Montserrat"/>
              </a:rPr>
              <a:t>Сверх ТЗ: визуализация, исправленный ROI, DICOM SR, веб-интерфейс и API, живое демо.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Проверить за 3 команды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D22"/>
                </a:solidFill>
                <a:latin typeface="Montserrat"/>
              </a:rPr>
              <a:t>git clone https://neuropeople.pro/git/densitoai.git
cd densitoai &amp;&amp; ./build_and_run.sh /путь/к/исследованиям
# результат: outputs/result.csv и result.xlsx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234440"/>
            <a:ext cx="4297680" cy="1143000"/>
          </a:xfrm>
          <a:prstGeom prst="roundRect">
            <a:avLst>
              <a:gd name="adj" fmla="val 143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0" y="1307592"/>
            <a:ext cx="402336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ROC-AUC 0.78 / 0.77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828800"/>
            <a:ext cx="4023360" cy="5257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позвоночник / бедро, «есть нарушение», OOF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514600"/>
            <a:ext cx="4297680" cy="1143000"/>
          </a:xfrm>
          <a:prstGeom prst="roundRect">
            <a:avLst>
              <a:gd name="adj" fmla="val 143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0" y="2587752"/>
            <a:ext cx="402336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0053"/>
                </a:solidFill>
                <a:latin typeface="Montserrat"/>
              </a:rPr>
              <a:t>0.05 с · 100 %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108960"/>
            <a:ext cx="4023360" cy="5257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  <a:latin typeface="Montserrat"/>
              </a:rPr>
              <a:t>на снимок · успешных обработок (499/499)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794760"/>
            <a:ext cx="429768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26679" y="3904487"/>
            <a:ext cx="3977639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00" b="1">
                <a:solidFill>
                  <a:srgbClr val="520978"/>
                </a:solidFill>
                <a:latin typeface="Montserrat"/>
              </a:rPr>
              <a:t>Ссылки и контакты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Демо: </a:t>
            </a:r>
            <a:r>
              <a:rPr sz="1200" b="0">
                <a:solidFill>
                  <a:srgbClr val="1C1D22"/>
                </a:solidFill>
                <a:latin typeface="Montserrat"/>
              </a:rPr>
              <a:t>neuropeople.pro (demo / Densito2026)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API: </a:t>
            </a:r>
            <a:r>
              <a:rPr sz="1200" b="0">
                <a:solidFill>
                  <a:srgbClr val="1C1D22"/>
                </a:solidFill>
                <a:latin typeface="Montserrat"/>
              </a:rPr>
              <a:t>neuropeople.pro/docs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Код и модели: </a:t>
            </a:r>
            <a:r>
              <a:rPr sz="1200" b="0">
                <a:solidFill>
                  <a:srgbClr val="1C1D22"/>
                </a:solidFill>
                <a:latin typeface="Montserrat"/>
              </a:rPr>
              <a:t>neuropeople.pro/git/densitoai.git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1C1D22"/>
                </a:solidFill>
                <a:latin typeface="Montserrat"/>
              </a:rPr>
              <a:t>Команда: </a:t>
            </a:r>
            <a:r>
              <a:rPr sz="1200" b="0">
                <a:solidFill>
                  <a:srgbClr val="1C1D22"/>
                </a:solidFill>
                <a:latin typeface="Montserrat"/>
              </a:rPr>
              <a:t>DensitoAI · контакт лидера — @telegram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